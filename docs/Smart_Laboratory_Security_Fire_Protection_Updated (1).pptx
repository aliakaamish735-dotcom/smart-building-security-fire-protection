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298c433e894c21" /><Relationship Type="http://schemas.openxmlformats.org/officeDocument/2006/relationships/extended-properties" Target="/docProps/app.xml" Id="R5b60b6831b4f4c6c" /><Relationship Type="http://schemas.openxmlformats.org/officeDocument/2006/relationships/officeDocument" Target="/ppt/presentation.xml" Id="Rd4c6766842eb44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78a6dea9ec4822"/>
  </p:sldMasterIdLst>
  <p:notesMasterIdLst>
    <p:notesMasterId xmlns:r="http://schemas.openxmlformats.org/officeDocument/2006/relationships" r:id="R34661cb767064f1b"/>
  </p:notesMasterIdLst>
  <p:sldIdLst>
    <p:sldId xmlns:r="http://schemas.openxmlformats.org/officeDocument/2006/relationships" id="256" r:id="R87181a02e0ed4e2f"/>
    <p:sldId xmlns:r="http://schemas.openxmlformats.org/officeDocument/2006/relationships" id="257" r:id="Re399244d85b142ee"/>
    <p:sldId xmlns:r="http://schemas.openxmlformats.org/officeDocument/2006/relationships" id="258" r:id="R2b17d0abe1fd4307"/>
    <p:sldId xmlns:r="http://schemas.openxmlformats.org/officeDocument/2006/relationships" id="259" r:id="Rf7f9036496e0468e"/>
    <p:sldId xmlns:r="http://schemas.openxmlformats.org/officeDocument/2006/relationships" id="260" r:id="R683517e6d4e74a21"/>
    <p:sldId xmlns:r="http://schemas.openxmlformats.org/officeDocument/2006/relationships" id="261" r:id="R41597af41bca44df"/>
    <p:sldId xmlns:r="http://schemas.openxmlformats.org/officeDocument/2006/relationships" id="262" r:id="Rb14752b3d6d04cc9"/>
    <p:sldId xmlns:r="http://schemas.openxmlformats.org/officeDocument/2006/relationships" id="263" r:id="R806a647242b04cb9"/>
    <p:sldId xmlns:r="http://schemas.openxmlformats.org/officeDocument/2006/relationships" id="264" r:id="R8e19de3c08bd46dc"/>
    <p:sldId xmlns:r="http://schemas.openxmlformats.org/officeDocument/2006/relationships" id="265" r:id="Ra6245af30aa04ec4"/>
    <p:sldId xmlns:r="http://schemas.openxmlformats.org/officeDocument/2006/relationships" id="266" r:id="R6599eeb3e0da4048"/>
    <p:sldId xmlns:r="http://schemas.openxmlformats.org/officeDocument/2006/relationships" id="267" r:id="R27dc606f132e49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334c7029944cb" /><Relationship Type="http://schemas.openxmlformats.org/officeDocument/2006/relationships/slideMaster" Target="/ppt/slideMasters/slideMaster1.xml" Id="R0a78a6dea9ec4822" /><Relationship Type="http://schemas.openxmlformats.org/officeDocument/2006/relationships/notesMaster" Target="/ppt/notesMasters/notesMaster1.xml" Id="R34661cb767064f1b" /><Relationship Type="http://schemas.openxmlformats.org/officeDocument/2006/relationships/presProps" Target="/ppt/presProps.xml" Id="R494458de4d60459b" /><Relationship Type="http://schemas.openxmlformats.org/officeDocument/2006/relationships/tableStyles" Target="/ppt/tableStyles.xml" Id="R73954aa444554c83" /><Relationship Type="http://schemas.openxmlformats.org/officeDocument/2006/relationships/slide" Target="/ppt/slides/slide1.xml" Id="R87181a02e0ed4e2f" /><Relationship Type="http://schemas.openxmlformats.org/officeDocument/2006/relationships/slide" Target="/ppt/slides/slide2.xml" Id="Re399244d85b142ee" /><Relationship Type="http://schemas.openxmlformats.org/officeDocument/2006/relationships/slide" Target="/ppt/slides/slide3.xml" Id="R2b17d0abe1fd4307" /><Relationship Type="http://schemas.openxmlformats.org/officeDocument/2006/relationships/slide" Target="/ppt/slides/slide4.xml" Id="Rf7f9036496e0468e" /><Relationship Type="http://schemas.openxmlformats.org/officeDocument/2006/relationships/slide" Target="/ppt/slides/slide5.xml" Id="R683517e6d4e74a21" /><Relationship Type="http://schemas.openxmlformats.org/officeDocument/2006/relationships/slide" Target="/ppt/slides/slide6.xml" Id="R41597af41bca44df" /><Relationship Type="http://schemas.openxmlformats.org/officeDocument/2006/relationships/slide" Target="/ppt/slides/slide7.xml" Id="Rb14752b3d6d04cc9" /><Relationship Type="http://schemas.openxmlformats.org/officeDocument/2006/relationships/slide" Target="/ppt/slides/slide8.xml" Id="R806a647242b04cb9" /><Relationship Type="http://schemas.openxmlformats.org/officeDocument/2006/relationships/slide" Target="/ppt/slides/slide9.xml" Id="R8e19de3c08bd46dc" /><Relationship Type="http://schemas.openxmlformats.org/officeDocument/2006/relationships/slide" Target="/ppt/slides/slide10.xml" Id="Ra6245af30aa04ec4" /><Relationship Type="http://schemas.openxmlformats.org/officeDocument/2006/relationships/slide" Target="/ppt/slides/slide11.xml" Id="R6599eeb3e0da4048" /><Relationship Type="http://schemas.openxmlformats.org/officeDocument/2006/relationships/slide" Target="/ppt/slides/slide12.xml" Id="R27dc606f132e49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371cff855947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d76d2f433a44fe" /><Relationship Type="http://schemas.openxmlformats.org/officeDocument/2006/relationships/notesMaster" Target="/ppt/notesMasters/notesMaster1.xml" Id="Rc2f01459f21a44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56d5ade0d84bc0" /><Relationship Type="http://schemas.openxmlformats.org/officeDocument/2006/relationships/notesMaster" Target="/ppt/notesMasters/notesMaster1.xml" Id="R780438e36c3f43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7f49c767ee4b1c" /><Relationship Type="http://schemas.openxmlformats.org/officeDocument/2006/relationships/notesMaster" Target="/ppt/notesMasters/notesMaster1.xml" Id="R2fb098762971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38b7701af4fcb" /><Relationship Type="http://schemas.openxmlformats.org/officeDocument/2006/relationships/notesMaster" Target="/ppt/notesMasters/notesMaster1.xml" Id="R9c4ece9bddaa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32f1c5aa704505" /><Relationship Type="http://schemas.openxmlformats.org/officeDocument/2006/relationships/notesMaster" Target="/ppt/notesMasters/notesMaster1.xml" Id="R7af2259c100b4a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b40fd977ad4c03" /><Relationship Type="http://schemas.openxmlformats.org/officeDocument/2006/relationships/notesMaster" Target="/ppt/notesMasters/notesMaster1.xml" Id="Rf4a771fd021f4f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ab6dad37164747" /><Relationship Type="http://schemas.openxmlformats.org/officeDocument/2006/relationships/notesMaster" Target="/ppt/notesMasters/notesMaster1.xml" Id="R3dbafc298bfc43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f159ed39f04581" /><Relationship Type="http://schemas.openxmlformats.org/officeDocument/2006/relationships/notesMaster" Target="/ppt/notesMasters/notesMaster1.xml" Id="R9c2906ed6d2a4c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3994f27b794acc" /><Relationship Type="http://schemas.openxmlformats.org/officeDocument/2006/relationships/notesMaster" Target="/ppt/notesMasters/notesMaster1.xml" Id="Red85b45d0e1041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e95a8d391749e5" /><Relationship Type="http://schemas.openxmlformats.org/officeDocument/2006/relationships/notesMaster" Target="/ppt/notesMasters/notesMaster1.xml" Id="R8aec1e0648c246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e99ba587d34474" /><Relationship Type="http://schemas.openxmlformats.org/officeDocument/2006/relationships/notesMaster" Target="/ppt/notesMasters/notesMaster1.xml" Id="Raab0df5b4ca942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df14d5868945eb" /><Relationship Type="http://schemas.openxmlformats.org/officeDocument/2006/relationships/notesMaster" Target="/ppt/notesMasters/notesMaster1.xml" Id="R164aa27df97f44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4185db55a4f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fc4580aac74bac" /><Relationship Type="http://schemas.openxmlformats.org/officeDocument/2006/relationships/slideLayout" Target="/ppt/slideLayouts/slideLayout1.xml" Id="R5e8bc538a49945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8bc538a49945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046e426014b9d" /><Relationship Type="http://schemas.openxmlformats.org/officeDocument/2006/relationships/notesSlide" Target="/ppt/notesSlides/notesSlide1.xml" Id="R242ba623af9942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b76002fd3498f" /><Relationship Type="http://schemas.openxmlformats.org/officeDocument/2006/relationships/notesSlide" Target="/ppt/notesSlides/notesSlide2.xml" Id="Rba79841520ef47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c506375704fb9" /><Relationship Type="http://schemas.openxmlformats.org/officeDocument/2006/relationships/notesSlide" Target="/ppt/notesSlides/notesSlide3.xml" Id="R6b8b44f38b6b46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21740c88a4ed3" /><Relationship Type="http://schemas.openxmlformats.org/officeDocument/2006/relationships/notesSlide" Target="/ppt/notesSlides/notesSlide4.xml" Id="R18d7a5987afd46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24a323a23405d" /><Relationship Type="http://schemas.openxmlformats.org/officeDocument/2006/relationships/notesSlide" Target="/ppt/notesSlides/notesSlide5.xml" Id="Rf03ac97802ec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cc56b00c2458d" /><Relationship Type="http://schemas.openxmlformats.org/officeDocument/2006/relationships/notesSlide" Target="/ppt/notesSlides/notesSlide6.xml" Id="Rdaac892ea5a246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844cb6eb34666" /><Relationship Type="http://schemas.openxmlformats.org/officeDocument/2006/relationships/notesSlide" Target="/ppt/notesSlides/notesSlide7.xml" Id="R59af2fcf89c54a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a4b909926442c" /><Relationship Type="http://schemas.openxmlformats.org/officeDocument/2006/relationships/notesSlide" Target="/ppt/notesSlides/notesSlide8.xml" Id="R22c184cb1d1345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2f467eb0c49a9" /><Relationship Type="http://schemas.openxmlformats.org/officeDocument/2006/relationships/notesSlide" Target="/ppt/notesSlides/notesSlide9.xml" Id="R9144a142b8b947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425499dce471a" /><Relationship Type="http://schemas.openxmlformats.org/officeDocument/2006/relationships/notesSlide" Target="/ppt/notesSlides/notesSlide10.xml" Id="R22243a770fed41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26965c26a4452" /><Relationship Type="http://schemas.openxmlformats.org/officeDocument/2006/relationships/notesSlide" Target="/ppt/notesSlides/notesSlide11.xml" Id="R5a4c208a711846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48949945c4885" /><Relationship Type="http://schemas.openxmlformats.org/officeDocument/2006/relationships/notesSlide" Target="/ppt/notesSlides/notesSlide12.xml" Id="R71a34e16e14e4b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C165EC-F0D5-45DB-BAF9-6D791C2E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20C50C34-DDAE-41DE-B393-8E53E031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SENSORS PROJECT • UPDATED CONTROL LOGIC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5B18DF2D-BCF6-4C9C-84DE-32256CB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191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Laboratory Security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&amp; Fire Protection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C2972B2-F3C5-488C-996B-D6FADB67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Dual-sensor entry • automatic fire response • timestamped evidence</a:t>
            </a:r>
          </a:p>
        </p:txBody>
      </p:sp>
      <p:sp>
        <p:nvSpPr>
          <p:cNvPr id="5" name="team-label">
            <a:extLst xmlns:a="http://schemas.openxmlformats.org/drawingml/2006/main">
              <a:ext uri="{FF2B5EF4-FFF2-40B4-BE49-F238E27FC236}">
                <a16:creationId xmlns:a16="http://schemas.microsoft.com/office/drawing/2014/main" id="{527B3923-D3A5-471E-9026-74779729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TEAM</a:t>
            </a:r>
          </a:p>
        </p:txBody>
      </p:sp>
      <p:sp>
        <p:nvSpPr>
          <p:cNvPr id="6" name="team-names">
            <a:extLst xmlns:a="http://schemas.openxmlformats.org/drawingml/2006/main">
              <a:ext uri="{FF2B5EF4-FFF2-40B4-BE49-F238E27FC236}">
                <a16:creationId xmlns:a16="http://schemas.microsoft.com/office/drawing/2014/main" id="{65D1CC4A-312B-4F58-A3A4-38299571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600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Ali  •  Makram  •  Nassim  •  Mustapha</a:t>
            </a:r>
          </a:p>
        </p:txBody>
      </p:sp>
      <p:cxnSp>
        <p:nvCxnSpPr>
          <p:cNvPr id="24" name="hero-link-1"/>
          <p:cNvCxnSpPr/>
          <p:nvPr/>
        </p:nvCxnSpPr>
        <p:spPr>
          <a:xfrm xmlns:a="http://schemas.openxmlformats.org/drawingml/2006/main">
            <a:off x="8620125" y="2419350"/>
            <a:ext cx="-1000125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5EEAD4"/>
            </a:solidFill>
            <a:prstDash val="solid"/>
          </a:ln>
        </p:spPr>
      </p:cxnSp>
      <p:cxnSp>
        <p:nvCxnSpPr>
          <p:cNvPr id="25" name="hero-link-2"/>
          <p:cNvCxnSpPr/>
          <p:nvPr/>
        </p:nvCxnSpPr>
        <p:spPr>
          <a:xfrm xmlns:a="http://schemas.openxmlformats.org/drawingml/2006/main">
            <a:off x="8620125" y="4438650"/>
            <a:ext cx="-1000125" cy="-10096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CA5A5"/>
            </a:solidFill>
            <a:prstDash val="solid"/>
          </a:ln>
        </p:spPr>
      </p:cxnSp>
      <p:sp>
        <p:nvSpPr>
          <p:cNvPr id="9" name="arduino-ring">
            <a:extLst xmlns:a="http://schemas.openxmlformats.org/drawingml/2006/main">
              <a:ext uri="{FF2B5EF4-FFF2-40B4-BE49-F238E27FC236}">
                <a16:creationId xmlns:a16="http://schemas.microsoft.com/office/drawing/2014/main" id="{B7F5FC35-970B-4618-A57B-DA9831E4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0" name="arduino-label">
            <a:extLst xmlns:a="http://schemas.openxmlformats.org/drawingml/2006/main">
              <a:ext uri="{FF2B5EF4-FFF2-40B4-BE49-F238E27FC236}">
                <a16:creationId xmlns:a16="http://schemas.microsoft.com/office/drawing/2014/main" id="{530189F5-0265-4036-9825-83F6B0A4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575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ARDUINO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entry-ring">
            <a:extLst xmlns:a="http://schemas.openxmlformats.org/drawingml/2006/main">
              <a:ext uri="{FF2B5EF4-FFF2-40B4-BE49-F238E27FC236}">
                <a16:creationId xmlns:a16="http://schemas.microsoft.com/office/drawing/2014/main" id="{BA079817-D68E-4568-93E6-404F1569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28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ntry-symbol">
            <a:extLst xmlns:a="http://schemas.openxmlformats.org/drawingml/2006/main">
              <a:ext uri="{FF2B5EF4-FFF2-40B4-BE49-F238E27FC236}">
                <a16:creationId xmlns:a16="http://schemas.microsoft.com/office/drawing/2014/main" id="{4639A5A6-CB69-4E25-AA34-5F057384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IR + kg</a:t>
            </a:r>
          </a:p>
        </p:txBody>
      </p:sp>
      <p:sp>
        <p:nvSpPr>
          <p:cNvPr id="13" name="entry-label">
            <a:extLst xmlns:a="http://schemas.openxmlformats.org/drawingml/2006/main">
              <a:ext uri="{FF2B5EF4-FFF2-40B4-BE49-F238E27FC236}">
                <a16:creationId xmlns:a16="http://schemas.microsoft.com/office/drawing/2014/main" id="{E9EF5E0E-0E28-4111-82F3-828D9EE2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ENTRY SECURITY</a:t>
            </a:r>
          </a:p>
        </p:txBody>
      </p:sp>
      <p:sp>
        <p:nvSpPr>
          <p:cNvPr id="14" name="fire-ring">
            <a:extLst xmlns:a="http://schemas.openxmlformats.org/drawingml/2006/main">
              <a:ext uri="{FF2B5EF4-FFF2-40B4-BE49-F238E27FC236}">
                <a16:creationId xmlns:a16="http://schemas.microsoft.com/office/drawing/2014/main" id="{C494BEF1-0ADA-45E8-9B80-4E626EAF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ire-symbol">
            <a:extLst xmlns:a="http://schemas.openxmlformats.org/drawingml/2006/main">
              <a:ext uri="{FF2B5EF4-FFF2-40B4-BE49-F238E27FC236}">
                <a16:creationId xmlns:a16="http://schemas.microsoft.com/office/drawing/2014/main" id="{3520DDBB-2170-4326-AED3-1DC771C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°C + L/min</a:t>
            </a:r>
          </a:p>
        </p:txBody>
      </p:sp>
      <p:sp>
        <p:nvSpPr>
          <p:cNvPr id="16" name="fire-label">
            <a:extLst xmlns:a="http://schemas.openxmlformats.org/drawingml/2006/main">
              <a:ext uri="{FF2B5EF4-FFF2-40B4-BE49-F238E27FC236}">
                <a16:creationId xmlns:a16="http://schemas.microsoft.com/office/drawing/2014/main" id="{A9D30DE3-D830-4F7E-B155-B4E8712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 RESPONSE</a:t>
            </a:r>
          </a:p>
        </p:txBody>
      </p:sp>
      <p:sp>
        <p:nvSpPr>
          <p:cNvPr id="17" name="slide-one-presenter">
            <a:extLst xmlns:a="http://schemas.openxmlformats.org/drawingml/2006/main">
              <a:ext uri="{FF2B5EF4-FFF2-40B4-BE49-F238E27FC236}">
                <a16:creationId xmlns:a16="http://schemas.microsoft.com/office/drawing/2014/main" id="{7064733B-2EF3-4B1C-91AE-35E7913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ALI  1/3</a:t>
            </a:r>
          </a:p>
        </p:txBody>
      </p:sp>
    </p:spTree>
    <p:extLst>
      <p:ext uri="{BB962C8B-B14F-4D97-AF65-F5344CB8AC3E}">
        <p14:creationId xmlns:p14="http://schemas.microsoft.com/office/powerpoint/2010/main" val="480076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">
            <a:extLst xmlns:a="http://schemas.openxmlformats.org/drawingml/2006/main">
              <a:ext uri="{FF2B5EF4-FFF2-40B4-BE49-F238E27FC236}">
                <a16:creationId xmlns:a16="http://schemas.microsoft.com/office/drawing/2014/main" id="{4DC76FFB-A16B-4544-A0FE-30052248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DB4A01A-EA56-4D3B-B815-DD91FD7B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 controller supports two independent decision paths</a:t>
            </a:r>
          </a:p>
        </p:txBody>
      </p:sp>
      <p:sp>
        <p:nvSpPr>
          <p:cNvPr id="3" name="presenter-2">
            <a:extLst xmlns:a="http://schemas.openxmlformats.org/drawingml/2006/main">
              <a:ext uri="{FF2B5EF4-FFF2-40B4-BE49-F238E27FC236}">
                <a16:creationId xmlns:a16="http://schemas.microsoft.com/office/drawing/2014/main" id="{E196D17A-F3E9-43BF-980D-08C4C51F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2">
            <a:extLst xmlns:a="http://schemas.openxmlformats.org/drawingml/2006/main">
              <a:ext uri="{FF2B5EF4-FFF2-40B4-BE49-F238E27FC236}">
                <a16:creationId xmlns:a16="http://schemas.microsoft.com/office/drawing/2014/main" id="{70630828-E8C1-4838-A7D6-1B7D7D5A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ALI  2/3</a:t>
            </a:r>
          </a:p>
        </p:txBody>
      </p:sp>
      <p:cxnSp>
        <p:nvCxnSpPr>
          <p:cNvPr id="25" name="header-line-2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AA776802-0C01-4828-BB11-FB5EC87B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02</a:t>
            </a:r>
          </a:p>
        </p:txBody>
      </p:sp>
      <p:sp>
        <p:nvSpPr>
          <p:cNvPr id="7" name="entry-field">
            <a:extLst xmlns:a="http://schemas.openxmlformats.org/drawingml/2006/main">
              <a:ext uri="{FF2B5EF4-FFF2-40B4-BE49-F238E27FC236}">
                <a16:creationId xmlns:a16="http://schemas.microsoft.com/office/drawing/2014/main" id="{8087EF25-5F1A-470D-B052-8F368D90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52197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ntry-head">
            <a:extLst xmlns:a="http://schemas.openxmlformats.org/drawingml/2006/main">
              <a:ext uri="{FF2B5EF4-FFF2-40B4-BE49-F238E27FC236}">
                <a16:creationId xmlns:a16="http://schemas.microsoft.com/office/drawing/2014/main" id="{416EEE85-63CD-497D-BC72-172DF98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ENTRY SECURITY</a:t>
            </a:r>
          </a:p>
        </p:txBody>
      </p:sp>
      <p:sp>
        <p:nvSpPr>
          <p:cNvPr id="9" name="entry-eq">
            <a:extLst xmlns:a="http://schemas.openxmlformats.org/drawingml/2006/main">
              <a:ext uri="{FF2B5EF4-FFF2-40B4-BE49-F238E27FC236}">
                <a16:creationId xmlns:a16="http://schemas.microsoft.com/office/drawing/2014/main" id="{1464C7A0-F084-4BE9-96C9-34825514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33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Infrared detection  +  entry weight</a:t>
            </a:r>
          </a:p>
        </p:txBody>
      </p:sp>
      <p:sp>
        <p:nvSpPr>
          <p:cNvPr id="10" name="entry-arrow">
            <a:extLst xmlns:a="http://schemas.openxmlformats.org/drawingml/2006/main">
              <a:ext uri="{FF2B5EF4-FFF2-40B4-BE49-F238E27FC236}">
                <a16:creationId xmlns:a16="http://schemas.microsoft.com/office/drawing/2014/main" id="{5AF7561C-DBA6-4684-8E27-A86C0EF3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entry-out">
            <a:extLst xmlns:a="http://schemas.openxmlformats.org/drawingml/2006/main">
              <a:ext uri="{FF2B5EF4-FFF2-40B4-BE49-F238E27FC236}">
                <a16:creationId xmlns:a16="http://schemas.microsoft.com/office/drawing/2014/main" id="{097CB289-B2DB-4C47-ADD1-BF18AD25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PIN request → door or sticky alarm</a:t>
            </a:r>
          </a:p>
        </p:txBody>
      </p:sp>
      <p:sp>
        <p:nvSpPr>
          <p:cNvPr id="12" name="entry-note">
            <a:extLst xmlns:a="http://schemas.openxmlformats.org/drawingml/2006/main">
              <a:ext uri="{FF2B5EF4-FFF2-40B4-BE49-F238E27FC236}">
                <a16:creationId xmlns:a16="http://schemas.microsoft.com/office/drawing/2014/main" id="{66CED7D5-6B58-44C7-87AC-D766966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Both sensors must agree before authentication begins.</a:t>
            </a:r>
          </a:p>
        </p:txBody>
      </p:sp>
      <p:sp>
        <p:nvSpPr>
          <p:cNvPr id="13" name="fire-field">
            <a:extLst xmlns:a="http://schemas.openxmlformats.org/drawingml/2006/main">
              <a:ext uri="{FF2B5EF4-FFF2-40B4-BE49-F238E27FC236}">
                <a16:creationId xmlns:a16="http://schemas.microsoft.com/office/drawing/2014/main" id="{0F83E527-03D5-4E50-AE4D-92B484E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66850"/>
            <a:ext cx="56769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re-head">
            <a:extLst xmlns:a="http://schemas.openxmlformats.org/drawingml/2006/main">
              <a:ext uri="{FF2B5EF4-FFF2-40B4-BE49-F238E27FC236}">
                <a16:creationId xmlns:a16="http://schemas.microsoft.com/office/drawing/2014/main" id="{8E28B9C8-82CB-47E7-8E14-05B814AC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FIRE PROTECTION</a:t>
            </a:r>
          </a:p>
        </p:txBody>
      </p:sp>
      <p:sp>
        <p:nvSpPr>
          <p:cNvPr id="15" name="fire-eq">
            <a:extLst xmlns:a="http://schemas.openxmlformats.org/drawingml/2006/main">
              <a:ext uri="{FF2B5EF4-FFF2-40B4-BE49-F238E27FC236}">
                <a16:creationId xmlns:a16="http://schemas.microsoft.com/office/drawing/2014/main" id="{3220A188-E3C1-4EC4-9FED-3E46DD8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Temperature + humidity + water flow</a:t>
            </a:r>
          </a:p>
        </p:txBody>
      </p:sp>
      <p:sp>
        <p:nvSpPr>
          <p:cNvPr id="16" name="fire-arrow">
            <a:extLst xmlns:a="http://schemas.openxmlformats.org/drawingml/2006/main">
              <a:ext uri="{FF2B5EF4-FFF2-40B4-BE49-F238E27FC236}">
                <a16:creationId xmlns:a16="http://schemas.microsoft.com/office/drawing/2014/main" id="{7876885B-D55B-4D23-B403-4BE10F9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fire-out">
            <a:extLst xmlns:a="http://schemas.openxmlformats.org/drawingml/2006/main">
              <a:ext uri="{FF2B5EF4-FFF2-40B4-BE49-F238E27FC236}">
                <a16:creationId xmlns:a16="http://schemas.microsoft.com/office/drawing/2014/main" id="{B8E46549-3B17-4AB4-9BAB-E4BC777F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Pump → flow check → humidifier/fan</a:t>
            </a:r>
          </a:p>
        </p:txBody>
      </p:sp>
      <p:sp>
        <p:nvSpPr>
          <p:cNvPr id="18" name="fire-note">
            <a:extLst xmlns:a="http://schemas.openxmlformats.org/drawingml/2006/main">
              <a:ext uri="{FF2B5EF4-FFF2-40B4-BE49-F238E27FC236}">
                <a16:creationId xmlns:a16="http://schemas.microsoft.com/office/drawing/2014/main" id="{258D6CEB-6222-406C-BCB5-AA9A734F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Fire decisions never read the load cell.</a:t>
            </a:r>
          </a:p>
        </p:txBody>
      </p:sp>
      <p:sp>
        <p:nvSpPr>
          <p:cNvPr id="19" name="correction-band">
            <a:extLst xmlns:a="http://schemas.openxmlformats.org/drawingml/2006/main">
              <a:ext uri="{FF2B5EF4-FFF2-40B4-BE49-F238E27FC236}">
                <a16:creationId xmlns:a16="http://schemas.microsoft.com/office/drawing/2014/main" id="{07F057C5-FF44-4B3B-91C5-2DB2D9F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53100"/>
            <a:ext cx="881062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rrection-copy">
            <a:extLst xmlns:a="http://schemas.openxmlformats.org/drawingml/2006/main">
              <a:ext uri="{FF2B5EF4-FFF2-40B4-BE49-F238E27FC236}">
                <a16:creationId xmlns:a16="http://schemas.microsoft.com/office/drawing/2014/main" id="{9EE80E19-4723-45CB-91A2-CCBB5CA3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886450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CORRECTION  •  The load cell belongs to the entry platform—not a tank and not the fire system.</a:t>
            </a:r>
          </a:p>
        </p:txBody>
      </p:sp>
    </p:spTree>
    <p:extLst>
      <p:ext uri="{BB962C8B-B14F-4D97-AF65-F5344CB8AC3E}">
        <p14:creationId xmlns:p14="http://schemas.microsoft.com/office/powerpoint/2010/main" val="157442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">
            <a:extLst xmlns:a="http://schemas.openxmlformats.org/drawingml/2006/main">
              <a:ext uri="{FF2B5EF4-FFF2-40B4-BE49-F238E27FC236}">
                <a16:creationId xmlns:a16="http://schemas.microsoft.com/office/drawing/2014/main" id="{406074A6-510C-48DD-B3CD-1DBF6920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CD5552F-0030-49C0-B15E-8590C30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Sampling matches how quickly each signal changes</a:t>
            </a:r>
          </a:p>
        </p:txBody>
      </p:sp>
      <p:sp>
        <p:nvSpPr>
          <p:cNvPr id="3" name="presenter-3">
            <a:extLst xmlns:a="http://schemas.openxmlformats.org/drawingml/2006/main">
              <a:ext uri="{FF2B5EF4-FFF2-40B4-BE49-F238E27FC236}">
                <a16:creationId xmlns:a16="http://schemas.microsoft.com/office/drawing/2014/main" id="{0B013B52-35D1-4CE7-A429-DB4D6B6C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3">
            <a:extLst xmlns:a="http://schemas.openxmlformats.org/drawingml/2006/main">
              <a:ext uri="{FF2B5EF4-FFF2-40B4-BE49-F238E27FC236}">
                <a16:creationId xmlns:a16="http://schemas.microsoft.com/office/drawing/2014/main" id="{283E7048-E29E-456F-BFC7-436D251B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ALI  3/3</a:t>
            </a:r>
          </a:p>
        </p:txBody>
      </p:sp>
      <p:cxnSp>
        <p:nvCxnSpPr>
          <p:cNvPr id="45" name="header-line-3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04CB8FCB-85C7-4457-BF07-0BCA4E4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03</a:t>
            </a:r>
          </a:p>
        </p:txBody>
      </p:sp>
      <p:sp>
        <p:nvSpPr>
          <p:cNvPr id="7" name="col1">
            <a:extLst xmlns:a="http://schemas.openxmlformats.org/drawingml/2006/main">
              <a:ext uri="{FF2B5EF4-FFF2-40B4-BE49-F238E27FC236}">
                <a16:creationId xmlns:a16="http://schemas.microsoft.com/office/drawing/2014/main" id="{11FC18BA-88EB-47DC-8ECC-1FF65D97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8" name="col2">
            <a:extLst xmlns:a="http://schemas.openxmlformats.org/drawingml/2006/main">
              <a:ext uri="{FF2B5EF4-FFF2-40B4-BE49-F238E27FC236}">
                <a16:creationId xmlns:a16="http://schemas.microsoft.com/office/drawing/2014/main" id="{5F81D558-D89C-4B3B-A97F-E9A19D80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SAMPLING</a:t>
            </a:r>
          </a:p>
        </p:txBody>
      </p:sp>
      <p:sp>
        <p:nvSpPr>
          <p:cNvPr id="9" name="col3">
            <a:extLst xmlns:a="http://schemas.openxmlformats.org/drawingml/2006/main">
              <a:ext uri="{FF2B5EF4-FFF2-40B4-BE49-F238E27FC236}">
                <a16:creationId xmlns:a16="http://schemas.microsoft.com/office/drawing/2014/main" id="{0B82B5CF-BE87-4E47-9F5F-88944C35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0" name="sampling-row-0">
            <a:extLst xmlns:a="http://schemas.openxmlformats.org/drawingml/2006/main">
              <a:ext uri="{FF2B5EF4-FFF2-40B4-BE49-F238E27FC236}">
                <a16:creationId xmlns:a16="http://schemas.microsoft.com/office/drawing/2014/main" id="{71FF1F42-9916-4A28-8CE9-DDFE3C62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10906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mpling-mark-0">
            <a:extLst xmlns:a="http://schemas.openxmlformats.org/drawingml/2006/main">
              <a:ext uri="{FF2B5EF4-FFF2-40B4-BE49-F238E27FC236}">
                <a16:creationId xmlns:a16="http://schemas.microsoft.com/office/drawing/2014/main" id="{9C4B94D9-5B1A-4089-B83D-03F23D39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ampling-sensor-0">
            <a:extLst xmlns:a="http://schemas.openxmlformats.org/drawingml/2006/main">
              <a:ext uri="{FF2B5EF4-FFF2-40B4-BE49-F238E27FC236}">
                <a16:creationId xmlns:a16="http://schemas.microsoft.com/office/drawing/2014/main" id="{3B81036F-9BC5-4AA8-99C5-E48CF64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TCRT5000</a:t>
            </a:r>
          </a:p>
        </p:txBody>
      </p:sp>
      <p:sp>
        <p:nvSpPr>
          <p:cNvPr id="13" name="sampling-rate-0">
            <a:extLst xmlns:a="http://schemas.openxmlformats.org/drawingml/2006/main">
              <a:ext uri="{FF2B5EF4-FFF2-40B4-BE49-F238E27FC236}">
                <a16:creationId xmlns:a16="http://schemas.microsoft.com/office/drawing/2014/main" id="{DAC2FD17-7254-4FD0-A017-E17CD46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05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Every loop</a:t>
            </a:r>
          </a:p>
        </p:txBody>
      </p:sp>
      <p:sp>
        <p:nvSpPr>
          <p:cNvPr id="14" name="sampling-why-0">
            <a:extLst xmlns:a="http://schemas.openxmlformats.org/drawingml/2006/main">
              <a:ext uri="{FF2B5EF4-FFF2-40B4-BE49-F238E27FC236}">
                <a16:creationId xmlns:a16="http://schemas.microsoft.com/office/drawing/2014/main" id="{5F3403F3-B476-43DC-868D-D0A19855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Immediate optical presence</a:t>
            </a:r>
          </a:p>
        </p:txBody>
      </p:sp>
      <p:sp>
        <p:nvSpPr>
          <p:cNvPr id="15" name="sampling-row-1">
            <a:extLst xmlns:a="http://schemas.openxmlformats.org/drawingml/2006/main">
              <a:ext uri="{FF2B5EF4-FFF2-40B4-BE49-F238E27FC236}">
                <a16:creationId xmlns:a16="http://schemas.microsoft.com/office/drawing/2014/main" id="{E8C61985-CA71-499B-BE61-047DC674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0906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ampling-mark-1">
            <a:extLst xmlns:a="http://schemas.openxmlformats.org/drawingml/2006/main">
              <a:ext uri="{FF2B5EF4-FFF2-40B4-BE49-F238E27FC236}">
                <a16:creationId xmlns:a16="http://schemas.microsoft.com/office/drawing/2014/main" id="{AA0EF3D1-FCC5-4060-AC7E-C494FAF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ampling-sensor-1">
            <a:extLst xmlns:a="http://schemas.openxmlformats.org/drawingml/2006/main">
              <a:ext uri="{FF2B5EF4-FFF2-40B4-BE49-F238E27FC236}">
                <a16:creationId xmlns:a16="http://schemas.microsoft.com/office/drawing/2014/main" id="{205FC7F2-4235-4379-BEA9-7ABE40BA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HX711 load cell</a:t>
            </a:r>
          </a:p>
        </p:txBody>
      </p:sp>
      <p:sp>
        <p:nvSpPr>
          <p:cNvPr id="18" name="sampling-rate-1">
            <a:extLst xmlns:a="http://schemas.openxmlformats.org/drawingml/2006/main">
              <a:ext uri="{FF2B5EF4-FFF2-40B4-BE49-F238E27FC236}">
                <a16:creationId xmlns:a16="http://schemas.microsoft.com/office/drawing/2014/main" id="{C022DC8D-3C39-4B37-AC90-C4616966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When data is ready</a:t>
            </a:r>
          </a:p>
        </p:txBody>
      </p:sp>
      <p:sp>
        <p:nvSpPr>
          <p:cNvPr id="19" name="sampling-why-1">
            <a:extLst xmlns:a="http://schemas.openxmlformats.org/drawingml/2006/main">
              <a:ext uri="{FF2B5EF4-FFF2-40B4-BE49-F238E27FC236}">
                <a16:creationId xmlns:a16="http://schemas.microsoft.com/office/drawing/2014/main" id="{68C77F49-CEB6-4A1F-9DCF-A01BA6B0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Entry-weight confirmation</a:t>
            </a:r>
          </a:p>
        </p:txBody>
      </p:sp>
      <p:sp>
        <p:nvSpPr>
          <p:cNvPr id="20" name="sampling-row-2">
            <a:extLst xmlns:a="http://schemas.openxmlformats.org/drawingml/2006/main">
              <a:ext uri="{FF2B5EF4-FFF2-40B4-BE49-F238E27FC236}">
                <a16:creationId xmlns:a16="http://schemas.microsoft.com/office/drawing/2014/main" id="{5F59917B-92FE-4578-947E-E92D2FB2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10906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ampling-mark-2">
            <a:extLst xmlns:a="http://schemas.openxmlformats.org/drawingml/2006/main">
              <a:ext uri="{FF2B5EF4-FFF2-40B4-BE49-F238E27FC236}">
                <a16:creationId xmlns:a16="http://schemas.microsoft.com/office/drawing/2014/main" id="{EC970091-4F31-43C5-B80D-08BE90B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ampling-sensor-2">
            <a:extLst xmlns:a="http://schemas.openxmlformats.org/drawingml/2006/main">
              <a:ext uri="{FF2B5EF4-FFF2-40B4-BE49-F238E27FC236}">
                <a16:creationId xmlns:a16="http://schemas.microsoft.com/office/drawing/2014/main" id="{94C99F72-582A-4A7B-ADE1-A9BE9F5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Keypad</a:t>
            </a:r>
          </a:p>
        </p:txBody>
      </p:sp>
      <p:sp>
        <p:nvSpPr>
          <p:cNvPr id="23" name="sampling-rate-2">
            <a:extLst xmlns:a="http://schemas.openxmlformats.org/drawingml/2006/main">
              <a:ext uri="{FF2B5EF4-FFF2-40B4-BE49-F238E27FC236}">
                <a16:creationId xmlns:a16="http://schemas.microsoft.com/office/drawing/2014/main" id="{BF190054-1CAE-4185-93D9-0F2BC3E7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Continuously</a:t>
            </a:r>
          </a:p>
        </p:txBody>
      </p:sp>
      <p:sp>
        <p:nvSpPr>
          <p:cNvPr id="24" name="sampling-why-2">
            <a:extLst xmlns:a="http://schemas.openxmlformats.org/drawingml/2006/main">
              <a:ext uri="{FF2B5EF4-FFF2-40B4-BE49-F238E27FC236}">
                <a16:creationId xmlns:a16="http://schemas.microsoft.com/office/drawing/2014/main" id="{2D3B0CDC-DD74-40C7-83FD-7F7464E8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15 s inactivity timeout</a:t>
            </a:r>
          </a:p>
        </p:txBody>
      </p:sp>
      <p:sp>
        <p:nvSpPr>
          <p:cNvPr id="25" name="sampling-row-3">
            <a:extLst xmlns:a="http://schemas.openxmlformats.org/drawingml/2006/main">
              <a:ext uri="{FF2B5EF4-FFF2-40B4-BE49-F238E27FC236}">
                <a16:creationId xmlns:a16="http://schemas.microsoft.com/office/drawing/2014/main" id="{497DD289-8249-41AD-BB52-2164EBE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10906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ampling-mark-3">
            <a:extLst xmlns:a="http://schemas.openxmlformats.org/drawingml/2006/main">
              <a:ext uri="{FF2B5EF4-FFF2-40B4-BE49-F238E27FC236}">
                <a16:creationId xmlns:a16="http://schemas.microsoft.com/office/drawing/2014/main" id="{621F8EC7-6B38-41B0-8599-2EC67A4F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ampling-sensor-3">
            <a:extLst xmlns:a="http://schemas.openxmlformats.org/drawingml/2006/main">
              <a:ext uri="{FF2B5EF4-FFF2-40B4-BE49-F238E27FC236}">
                <a16:creationId xmlns:a16="http://schemas.microsoft.com/office/drawing/2014/main" id="{59388E95-08A3-499B-8845-D2BD71F7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Flow sensor</a:t>
            </a:r>
          </a:p>
        </p:txBody>
      </p:sp>
      <p:sp>
        <p:nvSpPr>
          <p:cNvPr id="28" name="sampling-rate-3">
            <a:extLst xmlns:a="http://schemas.openxmlformats.org/drawingml/2006/main">
              <a:ext uri="{FF2B5EF4-FFF2-40B4-BE49-F238E27FC236}">
                <a16:creationId xmlns:a16="http://schemas.microsoft.com/office/drawing/2014/main" id="{1D4ACF94-4683-4CA9-8B49-5133B838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Interrupt pulses</a:t>
            </a:r>
          </a:p>
        </p:txBody>
      </p:sp>
      <p:sp>
        <p:nvSpPr>
          <p:cNvPr id="29" name="sampling-why-3">
            <a:extLst xmlns:a="http://schemas.openxmlformats.org/drawingml/2006/main">
              <a:ext uri="{FF2B5EF4-FFF2-40B4-BE49-F238E27FC236}">
                <a16:creationId xmlns:a16="http://schemas.microsoft.com/office/drawing/2014/main" id="{DEAF0252-C620-4072-A6ED-91954C0E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Flow calculated every 5 s</a:t>
            </a:r>
          </a:p>
        </p:txBody>
      </p:sp>
      <p:sp>
        <p:nvSpPr>
          <p:cNvPr id="30" name="sampling-row-4">
            <a:extLst xmlns:a="http://schemas.openxmlformats.org/drawingml/2006/main">
              <a:ext uri="{FF2B5EF4-FFF2-40B4-BE49-F238E27FC236}">
                <a16:creationId xmlns:a16="http://schemas.microsoft.com/office/drawing/2014/main" id="{4B52A500-2A8C-42C7-B09F-4639980F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10906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ampling-mark-4">
            <a:extLst xmlns:a="http://schemas.openxmlformats.org/drawingml/2006/main">
              <a:ext uri="{FF2B5EF4-FFF2-40B4-BE49-F238E27FC236}">
                <a16:creationId xmlns:a16="http://schemas.microsoft.com/office/drawing/2014/main" id="{7B80C58B-36E2-479B-9C49-EDBAE94B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ampling-sensor-4">
            <a:extLst xmlns:a="http://schemas.openxmlformats.org/drawingml/2006/main">
              <a:ext uri="{FF2B5EF4-FFF2-40B4-BE49-F238E27FC236}">
                <a16:creationId xmlns:a16="http://schemas.microsoft.com/office/drawing/2014/main" id="{D5E6F4DF-8845-4992-96D8-22100F6F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DHT11</a:t>
            </a:r>
          </a:p>
        </p:txBody>
      </p:sp>
      <p:sp>
        <p:nvSpPr>
          <p:cNvPr id="33" name="sampling-rate-4">
            <a:extLst xmlns:a="http://schemas.openxmlformats.org/drawingml/2006/main">
              <a:ext uri="{FF2B5EF4-FFF2-40B4-BE49-F238E27FC236}">
                <a16:creationId xmlns:a16="http://schemas.microsoft.com/office/drawing/2014/main" id="{1EB765A0-F19F-47F1-B8CF-D1A6785B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Every 5 s</a:t>
            </a:r>
          </a:p>
        </p:txBody>
      </p:sp>
      <p:sp>
        <p:nvSpPr>
          <p:cNvPr id="34" name="sampling-why-4">
            <a:extLst xmlns:a="http://schemas.openxmlformats.org/drawingml/2006/main">
              <a:ext uri="{FF2B5EF4-FFF2-40B4-BE49-F238E27FC236}">
                <a16:creationId xmlns:a16="http://schemas.microsoft.com/office/drawing/2014/main" id="{E7CA8E88-0A6B-4F3C-90DD-B40F2730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Temperature / humidity</a:t>
            </a:r>
          </a:p>
        </p:txBody>
      </p:sp>
      <p:sp>
        <p:nvSpPr>
          <p:cNvPr id="35" name="sampling-row-5">
            <a:extLst xmlns:a="http://schemas.openxmlformats.org/drawingml/2006/main">
              <a:ext uri="{FF2B5EF4-FFF2-40B4-BE49-F238E27FC236}">
                <a16:creationId xmlns:a16="http://schemas.microsoft.com/office/drawing/2014/main" id="{4668D0CB-783F-47A1-AC7D-36EBC678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0906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ampling-mark-5">
            <a:extLst xmlns:a="http://schemas.openxmlformats.org/drawingml/2006/main">
              <a:ext uri="{FF2B5EF4-FFF2-40B4-BE49-F238E27FC236}">
                <a16:creationId xmlns:a16="http://schemas.microsoft.com/office/drawing/2014/main" id="{D04E8AD3-7EFA-41A8-A717-3382269E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ampling-sensor-5">
            <a:extLst xmlns:a="http://schemas.openxmlformats.org/drawingml/2006/main">
              <a:ext uri="{FF2B5EF4-FFF2-40B4-BE49-F238E27FC236}">
                <a16:creationId xmlns:a16="http://schemas.microsoft.com/office/drawing/2014/main" id="{2AC08CCA-4A7E-4830-ACEC-7F3C1610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Fire state + CSV</a:t>
            </a:r>
          </a:p>
        </p:txBody>
      </p:sp>
      <p:sp>
        <p:nvSpPr>
          <p:cNvPr id="38" name="sampling-rate-5">
            <a:extLst xmlns:a="http://schemas.openxmlformats.org/drawingml/2006/main">
              <a:ext uri="{FF2B5EF4-FFF2-40B4-BE49-F238E27FC236}">
                <a16:creationId xmlns:a16="http://schemas.microsoft.com/office/drawing/2014/main" id="{012B5573-3BD5-43D4-8F1B-8F1B4328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Every 5 s</a:t>
            </a:r>
          </a:p>
        </p:txBody>
      </p:sp>
      <p:sp>
        <p:nvSpPr>
          <p:cNvPr id="39" name="sampling-why-5">
            <a:extLst xmlns:a="http://schemas.openxmlformats.org/drawingml/2006/main">
              <a:ext uri="{FF2B5EF4-FFF2-40B4-BE49-F238E27FC236}">
                <a16:creationId xmlns:a16="http://schemas.microsoft.com/office/drawing/2014/main" id="{3F205680-A010-4617-BE48-B993FAF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Timestamped status record</a:t>
            </a:r>
          </a:p>
        </p:txBody>
      </p:sp>
      <p:sp>
        <p:nvSpPr>
          <p:cNvPr id="40" name="sampling-note">
            <a:extLst xmlns:a="http://schemas.openxmlformats.org/drawingml/2006/main">
              <a:ext uri="{FF2B5EF4-FFF2-40B4-BE49-F238E27FC236}">
                <a16:creationId xmlns:a16="http://schemas.microsoft.com/office/drawing/2014/main" id="{F7E88ACB-B9C2-4BD9-87FB-3E6C3A4A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1042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DHT11 changes slowly; a 5-second control/logging interval is stable, readable, and sufficient for the fire sequence.</a:t>
            </a:r>
          </a:p>
        </p:txBody>
      </p:sp>
    </p:spTree>
    <p:extLst>
      <p:ext uri="{BB962C8B-B14F-4D97-AF65-F5344CB8AC3E}">
        <p14:creationId xmlns:p14="http://schemas.microsoft.com/office/powerpoint/2010/main" val="1905452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">
            <a:extLst xmlns:a="http://schemas.openxmlformats.org/drawingml/2006/main">
              <a:ext uri="{FF2B5EF4-FFF2-40B4-BE49-F238E27FC236}">
                <a16:creationId xmlns:a16="http://schemas.microsoft.com/office/drawing/2014/main" id="{F66DF5B7-1BF9-4284-81DB-4D5A90A5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A3B7775-EDA8-44B6-8500-2EFAF904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Entry is confirmed only when both sensors agree</a:t>
            </a:r>
          </a:p>
        </p:txBody>
      </p:sp>
      <p:sp>
        <p:nvSpPr>
          <p:cNvPr id="3" name="presenter-4">
            <a:extLst xmlns:a="http://schemas.openxmlformats.org/drawingml/2006/main">
              <a:ext uri="{FF2B5EF4-FFF2-40B4-BE49-F238E27FC236}">
                <a16:creationId xmlns:a16="http://schemas.microsoft.com/office/drawing/2014/main" id="{72E0EB56-9363-4119-9F21-CF1482D5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4">
            <a:extLst xmlns:a="http://schemas.openxmlformats.org/drawingml/2006/main">
              <a:ext uri="{FF2B5EF4-FFF2-40B4-BE49-F238E27FC236}">
                <a16:creationId xmlns:a16="http://schemas.microsoft.com/office/drawing/2014/main" id="{66C7B15E-56DE-41C3-8BDE-82FDE168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MAKRAM  1/3</a:t>
            </a:r>
          </a:p>
        </p:txBody>
      </p:sp>
      <p:cxnSp>
        <p:nvCxnSpPr>
          <p:cNvPr id="47" name="header-line-4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4">
            <a:extLst xmlns:a="http://schemas.openxmlformats.org/drawingml/2006/main">
              <a:ext uri="{FF2B5EF4-FFF2-40B4-BE49-F238E27FC236}">
                <a16:creationId xmlns:a16="http://schemas.microsoft.com/office/drawing/2014/main" id="{C4218F4C-2EBD-450D-8CA4-6AD2F245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04</a:t>
            </a:r>
          </a:p>
        </p:txBody>
      </p:sp>
      <p:cxnSp>
        <p:nvCxnSpPr>
          <p:cNvPr id="49" name="logic-in-1"/>
          <p:cNvCxnSpPr/>
          <p:nvPr/>
        </p:nvCxnSpPr>
        <p:spPr>
          <a:xfrm xmlns:a="http://schemas.openxmlformats.org/drawingml/2006/main">
            <a:off x="2838450" y="2457450"/>
            <a:ext cx="13335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F9D92"/>
            </a:solidFill>
            <a:prstDash val="solid"/>
          </a:ln>
        </p:spPr>
      </p:cxnSp>
      <p:cxnSp>
        <p:nvCxnSpPr>
          <p:cNvPr id="50" name="logic-in-2"/>
          <p:cNvCxnSpPr/>
          <p:nvPr/>
        </p:nvCxnSpPr>
        <p:spPr>
          <a:xfrm xmlns:a="http://schemas.openxmlformats.org/drawingml/2006/main">
            <a:off x="2838450" y="4191000"/>
            <a:ext cx="1333500" cy="-552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51" name="logic-out"/>
          <p:cNvCxnSpPr/>
          <p:nvPr/>
        </p:nvCxnSpPr>
        <p:spPr>
          <a:xfrm xmlns:a="http://schemas.openxmlformats.org/drawingml/2006/main">
            <a:off x="5810250" y="33337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A34A"/>
            </a:solidFill>
            <a:prstDash val="solid"/>
          </a:ln>
        </p:spPr>
      </p:cxnSp>
      <p:sp>
        <p:nvSpPr>
          <p:cNvPr id="10" name="optical-box">
            <a:extLst xmlns:a="http://schemas.openxmlformats.org/drawingml/2006/main">
              <a:ext uri="{FF2B5EF4-FFF2-40B4-BE49-F238E27FC236}">
                <a16:creationId xmlns:a16="http://schemas.microsoft.com/office/drawing/2014/main" id="{34E68531-F4C0-43BC-AA8C-68A4978A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tical-text">
            <a:extLst xmlns:a="http://schemas.openxmlformats.org/drawingml/2006/main">
              <a:ext uri="{FF2B5EF4-FFF2-40B4-BE49-F238E27FC236}">
                <a16:creationId xmlns:a16="http://schemas.microsoft.com/office/drawing/2014/main" id="{421AF202-9315-49CE-BBDA-FB40F6BF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905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TCRT5000</a:t>
            </a:r>
          </a:p>
          <a:p xmlns:a="http://schemas.openxmlformats.org/drawingml/2006/main">
            <a:pPr algn="ctr">
              <a:defRPr sz="1575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infrared = TRUE</a:t>
            </a:r>
          </a:p>
        </p:txBody>
      </p:sp>
      <p:sp>
        <p:nvSpPr>
          <p:cNvPr id="12" name="weight-box">
            <a:extLst xmlns:a="http://schemas.openxmlformats.org/drawingml/2006/main">
              <a:ext uri="{FF2B5EF4-FFF2-40B4-BE49-F238E27FC236}">
                <a16:creationId xmlns:a16="http://schemas.microsoft.com/office/drawing/2014/main" id="{32F7EC97-7C23-4FFE-BE3B-046E3E0E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eight-text">
            <a:extLst xmlns:a="http://schemas.openxmlformats.org/drawingml/2006/main">
              <a:ext uri="{FF2B5EF4-FFF2-40B4-BE49-F238E27FC236}">
                <a16:creationId xmlns:a16="http://schemas.microsoft.com/office/drawing/2014/main" id="{DF511B0A-E778-432A-90CC-33A26DE4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19050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HX711 load cell</a:t>
            </a:r>
          </a:p>
          <a:p xmlns:a="http://schemas.openxmlformats.org/drawingml/2006/main">
            <a:pPr algn="ctr">
              <a:defRPr sz="15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weight ≥ threshold</a:t>
            </a:r>
          </a:p>
        </p:txBody>
      </p:sp>
      <p:sp>
        <p:nvSpPr>
          <p:cNvPr id="14" name="and-circle">
            <a:extLst xmlns:a="http://schemas.openxmlformats.org/drawingml/2006/main">
              <a:ext uri="{FF2B5EF4-FFF2-40B4-BE49-F238E27FC236}">
                <a16:creationId xmlns:a16="http://schemas.microsoft.com/office/drawing/2014/main" id="{6E69DB97-3B78-4024-830D-8867C7C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2415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nd-text">
            <a:extLst xmlns:a="http://schemas.openxmlformats.org/drawingml/2006/main">
              <a:ext uri="{FF2B5EF4-FFF2-40B4-BE49-F238E27FC236}">
                <a16:creationId xmlns:a16="http://schemas.microsoft.com/office/drawing/2014/main" id="{6F0ECB64-768D-4087-98E1-8F4ED1E2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19450"/>
            <a:ext cx="100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AND</a:t>
            </a:r>
          </a:p>
        </p:txBody>
      </p:sp>
      <p:sp>
        <p:nvSpPr>
          <p:cNvPr id="16" name="person-box">
            <a:extLst xmlns:a="http://schemas.openxmlformats.org/drawingml/2006/main">
              <a:ext uri="{FF2B5EF4-FFF2-40B4-BE49-F238E27FC236}">
                <a16:creationId xmlns:a16="http://schemas.microsoft.com/office/drawing/2014/main" id="{16A94671-D648-4763-9F3C-FFBA903C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2383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erson-text">
            <a:extLst xmlns:a="http://schemas.openxmlformats.org/drawingml/2006/main">
              <a:ext uri="{FF2B5EF4-FFF2-40B4-BE49-F238E27FC236}">
                <a16:creationId xmlns:a16="http://schemas.microsoft.com/office/drawing/2014/main" id="{DC8E596F-2B9D-4FEB-9E5C-BF007766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20478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personDetected</a:t>
            </a:r>
          </a:p>
          <a:p xmlns:a="http://schemas.openxmlformats.org/drawingml/2006/main">
            <a:pPr algn="ctr">
              <a:defRPr sz="18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= TRUE</a:t>
            </a:r>
          </a:p>
        </p:txBody>
      </p:sp>
      <p:sp>
        <p:nvSpPr>
          <p:cNvPr id="18" name="then">
            <a:extLst xmlns:a="http://schemas.openxmlformats.org/drawingml/2006/main">
              <a:ext uri="{FF2B5EF4-FFF2-40B4-BE49-F238E27FC236}">
                <a16:creationId xmlns:a16="http://schemas.microsoft.com/office/drawing/2014/main" id="{6FDC7B69-59F0-4CDB-882C-DF0BEF71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200400"/>
            <a:ext cx="714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19" name="pin-box">
            <a:extLst xmlns:a="http://schemas.openxmlformats.org/drawingml/2006/main">
              <a:ext uri="{FF2B5EF4-FFF2-40B4-BE49-F238E27FC236}">
                <a16:creationId xmlns:a16="http://schemas.microsoft.com/office/drawing/2014/main" id="{82E48057-7C82-4916-B20E-4703927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00375"/>
            <a:ext cx="11430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n-text">
            <a:extLst xmlns:a="http://schemas.openxmlformats.org/drawingml/2006/main">
              <a:ext uri="{FF2B5EF4-FFF2-40B4-BE49-F238E27FC236}">
                <a16:creationId xmlns:a16="http://schemas.microsoft.com/office/drawing/2014/main" id="{DCD0A4DC-DA82-45D8-8232-F575FC6B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76575"/>
            <a:ext cx="952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REQUEST</a:t>
            </a:r>
          </a:p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PIN</a:t>
            </a:r>
          </a:p>
        </p:txBody>
      </p:sp>
      <p:sp>
        <p:nvSpPr>
          <p:cNvPr id="21" name="truth-title">
            <a:extLst xmlns:a="http://schemas.openxmlformats.org/drawingml/2006/main">
              <a:ext uri="{FF2B5EF4-FFF2-40B4-BE49-F238E27FC236}">
                <a16:creationId xmlns:a16="http://schemas.microsoft.com/office/drawing/2014/main" id="{C3487DFB-3294-41C8-B923-5467769F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Truth table</a:t>
            </a:r>
          </a:p>
        </p:txBody>
      </p:sp>
      <p:sp>
        <p:nvSpPr>
          <p:cNvPr id="22" name="truth-0">
            <a:extLst xmlns:a="http://schemas.openxmlformats.org/drawingml/2006/main">
              <a:ext uri="{FF2B5EF4-FFF2-40B4-BE49-F238E27FC236}">
                <a16:creationId xmlns:a16="http://schemas.microsoft.com/office/drawing/2014/main" id="{7DD0F388-2894-4719-B3A8-BFBBC671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truth-0-a">
            <a:extLst xmlns:a="http://schemas.openxmlformats.org/drawingml/2006/main">
              <a:ext uri="{FF2B5EF4-FFF2-40B4-BE49-F238E27FC236}">
                <a16:creationId xmlns:a16="http://schemas.microsoft.com/office/drawing/2014/main" id="{95D63E49-C56F-48D1-809D-8C9FA089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IR</a:t>
            </a:r>
          </a:p>
        </p:txBody>
      </p:sp>
      <p:sp>
        <p:nvSpPr>
          <p:cNvPr id="24" name="truth-0-b">
            <a:extLst xmlns:a="http://schemas.openxmlformats.org/drawingml/2006/main">
              <a:ext uri="{FF2B5EF4-FFF2-40B4-BE49-F238E27FC236}">
                <a16:creationId xmlns:a16="http://schemas.microsoft.com/office/drawing/2014/main" id="{2262EAE3-3984-47ED-ADD6-58E58162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38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WEIGHT</a:t>
            </a:r>
          </a:p>
        </p:txBody>
      </p:sp>
      <p:sp>
        <p:nvSpPr>
          <p:cNvPr id="25" name="truth-0-c">
            <a:extLst xmlns:a="http://schemas.openxmlformats.org/drawingml/2006/main">
              <a:ext uri="{FF2B5EF4-FFF2-40B4-BE49-F238E27FC236}">
                <a16:creationId xmlns:a16="http://schemas.microsoft.com/office/drawing/2014/main" id="{D0821AE2-EF93-4612-910E-DA6E080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6" name="truth-1">
            <a:extLst xmlns:a="http://schemas.openxmlformats.org/drawingml/2006/main">
              <a:ext uri="{FF2B5EF4-FFF2-40B4-BE49-F238E27FC236}">
                <a16:creationId xmlns:a16="http://schemas.microsoft.com/office/drawing/2014/main" id="{90AB67FA-86BE-40F5-A303-44DA7652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truth-1-a">
            <a:extLst xmlns:a="http://schemas.openxmlformats.org/drawingml/2006/main">
              <a:ext uri="{FF2B5EF4-FFF2-40B4-BE49-F238E27FC236}">
                <a16:creationId xmlns:a16="http://schemas.microsoft.com/office/drawing/2014/main" id="{A6BB7491-D717-4373-8215-C165EF3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244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8" name="truth-1-b">
            <a:extLst xmlns:a="http://schemas.openxmlformats.org/drawingml/2006/main">
              <a:ext uri="{FF2B5EF4-FFF2-40B4-BE49-F238E27FC236}">
                <a16:creationId xmlns:a16="http://schemas.microsoft.com/office/drawing/2014/main" id="{2EC9CA75-760E-4B04-B6D7-2F61AAE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244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truth-1-c">
            <a:extLst xmlns:a="http://schemas.openxmlformats.org/drawingml/2006/main">
              <a:ext uri="{FF2B5EF4-FFF2-40B4-BE49-F238E27FC236}">
                <a16:creationId xmlns:a16="http://schemas.microsoft.com/office/drawing/2014/main" id="{012545DD-9B8C-4C31-BD61-B5520105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2445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 trigger</a:t>
            </a:r>
          </a:p>
        </p:txBody>
      </p:sp>
      <p:sp>
        <p:nvSpPr>
          <p:cNvPr id="30" name="truth-2">
            <a:extLst xmlns:a="http://schemas.openxmlformats.org/drawingml/2006/main">
              <a:ext uri="{FF2B5EF4-FFF2-40B4-BE49-F238E27FC236}">
                <a16:creationId xmlns:a16="http://schemas.microsoft.com/office/drawing/2014/main" id="{D31C4705-18B9-4B64-8BCD-E0D4806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721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truth-2-a">
            <a:extLst xmlns:a="http://schemas.openxmlformats.org/drawingml/2006/main">
              <a:ext uri="{FF2B5EF4-FFF2-40B4-BE49-F238E27FC236}">
                <a16:creationId xmlns:a16="http://schemas.microsoft.com/office/drawing/2014/main" id="{7CB92EFF-0A49-42A4-90B1-45C34466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4102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2" name="truth-2-b">
            <a:extLst xmlns:a="http://schemas.openxmlformats.org/drawingml/2006/main">
              <a:ext uri="{FF2B5EF4-FFF2-40B4-BE49-F238E27FC236}">
                <a16:creationId xmlns:a16="http://schemas.microsoft.com/office/drawing/2014/main" id="{F526BFE5-DE8B-4F16-835E-4E07AC70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10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3" name="truth-2-c">
            <a:extLst xmlns:a="http://schemas.openxmlformats.org/drawingml/2006/main">
              <a:ext uri="{FF2B5EF4-FFF2-40B4-BE49-F238E27FC236}">
                <a16:creationId xmlns:a16="http://schemas.microsoft.com/office/drawing/2014/main" id="{7631862C-EFE2-427F-9EFA-5F261120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02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 trigger</a:t>
            </a:r>
          </a:p>
        </p:txBody>
      </p:sp>
      <p:sp>
        <p:nvSpPr>
          <p:cNvPr id="34" name="truth-3">
            <a:extLst xmlns:a="http://schemas.openxmlformats.org/drawingml/2006/main">
              <a:ext uri="{FF2B5EF4-FFF2-40B4-BE49-F238E27FC236}">
                <a16:creationId xmlns:a16="http://schemas.microsoft.com/office/drawing/2014/main" id="{18EA3DB5-48FE-4C1A-B944-D9C72F31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578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truth-3-a">
            <a:extLst xmlns:a="http://schemas.openxmlformats.org/drawingml/2006/main">
              <a:ext uri="{FF2B5EF4-FFF2-40B4-BE49-F238E27FC236}">
                <a16:creationId xmlns:a16="http://schemas.microsoft.com/office/drawing/2014/main" id="{61E6E800-F211-4391-AF7E-910E7537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95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6" name="truth-3-b">
            <a:extLst xmlns:a="http://schemas.openxmlformats.org/drawingml/2006/main">
              <a:ext uri="{FF2B5EF4-FFF2-40B4-BE49-F238E27FC236}">
                <a16:creationId xmlns:a16="http://schemas.microsoft.com/office/drawing/2014/main" id="{DBE85417-4D5F-4E86-A824-FBF2FE19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95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7" name="truth-3-c">
            <a:extLst xmlns:a="http://schemas.openxmlformats.org/drawingml/2006/main">
              <a:ext uri="{FF2B5EF4-FFF2-40B4-BE49-F238E27FC236}">
                <a16:creationId xmlns:a16="http://schemas.microsoft.com/office/drawing/2014/main" id="{1F34ED0D-A7E2-47CF-8F93-D6B669E5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9595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 trigger</a:t>
            </a:r>
          </a:p>
        </p:txBody>
      </p:sp>
      <p:sp>
        <p:nvSpPr>
          <p:cNvPr id="38" name="truth-4">
            <a:extLst xmlns:a="http://schemas.openxmlformats.org/drawingml/2006/main">
              <a:ext uri="{FF2B5EF4-FFF2-40B4-BE49-F238E27FC236}">
                <a16:creationId xmlns:a16="http://schemas.microsoft.com/office/drawing/2014/main" id="{D785B624-21A8-4763-ACFA-B8E39FC9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436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truth-4-a">
            <a:extLst xmlns:a="http://schemas.openxmlformats.org/drawingml/2006/main">
              <a:ext uri="{FF2B5EF4-FFF2-40B4-BE49-F238E27FC236}">
                <a16:creationId xmlns:a16="http://schemas.microsoft.com/office/drawing/2014/main" id="{35D830A3-AFF0-4DA9-BF66-35107ED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817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truth-4-b">
            <a:extLst xmlns:a="http://schemas.openxmlformats.org/drawingml/2006/main">
              <a:ext uri="{FF2B5EF4-FFF2-40B4-BE49-F238E27FC236}">
                <a16:creationId xmlns:a16="http://schemas.microsoft.com/office/drawing/2014/main" id="{8BF64AE0-42DA-42C1-A98D-653ACD1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981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" name="truth-4-c">
            <a:extLst xmlns:a="http://schemas.openxmlformats.org/drawingml/2006/main">
              <a:ext uri="{FF2B5EF4-FFF2-40B4-BE49-F238E27FC236}">
                <a16:creationId xmlns:a16="http://schemas.microsoft.com/office/drawing/2014/main" id="{2F600357-926A-43A2-BAC9-0EE8E85C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8170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Request PIN</a:t>
            </a:r>
          </a:p>
        </p:txBody>
      </p:sp>
      <p:sp>
        <p:nvSpPr>
          <p:cNvPr id="42" name="logic-benefit">
            <a:extLst xmlns:a="http://schemas.openxmlformats.org/drawingml/2006/main">
              <a:ext uri="{FF2B5EF4-FFF2-40B4-BE49-F238E27FC236}">
                <a16:creationId xmlns:a16="http://schemas.microsoft.com/office/drawing/2014/main" id="{4D2D4564-F2ED-403D-811D-5368245E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Sensor fusion rejects an infrared reflection without weight and a weight change without infrared presence.</a:t>
            </a:r>
          </a:p>
        </p:txBody>
      </p:sp>
    </p:spTree>
    <p:extLst>
      <p:ext uri="{BB962C8B-B14F-4D97-AF65-F5344CB8AC3E}">
        <p14:creationId xmlns:p14="http://schemas.microsoft.com/office/powerpoint/2010/main" val="12462150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5">
            <a:extLst xmlns:a="http://schemas.openxmlformats.org/drawingml/2006/main">
              <a:ext uri="{FF2B5EF4-FFF2-40B4-BE49-F238E27FC236}">
                <a16:creationId xmlns:a16="http://schemas.microsoft.com/office/drawing/2014/main" id="{347682AF-52FF-4531-B14A-2C6B4B70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4FF0176-6897-4338-BC2F-96379C67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Confirmed presence triggers the full security response</a:t>
            </a:r>
          </a:p>
        </p:txBody>
      </p:sp>
      <p:sp>
        <p:nvSpPr>
          <p:cNvPr id="3" name="presenter-5">
            <a:extLst xmlns:a="http://schemas.openxmlformats.org/drawingml/2006/main">
              <a:ext uri="{FF2B5EF4-FFF2-40B4-BE49-F238E27FC236}">
                <a16:creationId xmlns:a16="http://schemas.microsoft.com/office/drawing/2014/main" id="{520C4171-EEEB-4C7D-A9D9-74A927DE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5">
            <a:extLst xmlns:a="http://schemas.openxmlformats.org/drawingml/2006/main">
              <a:ext uri="{FF2B5EF4-FFF2-40B4-BE49-F238E27FC236}">
                <a16:creationId xmlns:a16="http://schemas.microsoft.com/office/drawing/2014/main" id="{355DF081-445B-4B52-99CF-96F9BE4E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MAKRAM  2/3</a:t>
            </a:r>
          </a:p>
        </p:txBody>
      </p:sp>
      <p:cxnSp>
        <p:nvCxnSpPr>
          <p:cNvPr id="34" name="header-line-5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7D64D408-93F9-4A13-ACA4-2D7ADD27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05</a:t>
            </a:r>
          </a:p>
        </p:txBody>
      </p:sp>
      <p:cxnSp>
        <p:nvCxnSpPr>
          <p:cNvPr id="36" name="security-flow"/>
          <p:cNvCxnSpPr/>
          <p:nvPr/>
        </p:nvCxnSpPr>
        <p:spPr>
          <a:xfrm xmlns:a="http://schemas.openxmlformats.org/drawingml/2006/main">
            <a:off x="1333500" y="3048000"/>
            <a:ext cx="9477375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CBD5E1"/>
            </a:solidFill>
            <a:prstDash val="solid"/>
          </a:ln>
        </p:spPr>
      </p:cxnSp>
      <p:sp>
        <p:nvSpPr>
          <p:cNvPr id="8" name="security-circle-0">
            <a:extLst xmlns:a="http://schemas.openxmlformats.org/drawingml/2006/main">
              <a:ext uri="{FF2B5EF4-FFF2-40B4-BE49-F238E27FC236}">
                <a16:creationId xmlns:a16="http://schemas.microsoft.com/office/drawing/2014/main" id="{1344A3DA-26A1-434D-9A08-F11545FA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curity-num-0">
            <a:extLst xmlns:a="http://schemas.openxmlformats.org/drawingml/2006/main">
              <a:ext uri="{FF2B5EF4-FFF2-40B4-BE49-F238E27FC236}">
                <a16:creationId xmlns:a16="http://schemas.microsoft.com/office/drawing/2014/main" id="{A55794D0-B027-4AAD-A109-F6DDF549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security-title-0">
            <a:extLst xmlns:a="http://schemas.openxmlformats.org/drawingml/2006/main">
              <a:ext uri="{FF2B5EF4-FFF2-40B4-BE49-F238E27FC236}">
                <a16:creationId xmlns:a16="http://schemas.microsoft.com/office/drawing/2014/main" id="{F01CD611-FB20-4F45-AE38-1968F753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147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11" name="security-body-0">
            <a:extLst xmlns:a="http://schemas.openxmlformats.org/drawingml/2006/main">
              <a:ext uri="{FF2B5EF4-FFF2-40B4-BE49-F238E27FC236}">
                <a16:creationId xmlns:a16="http://schemas.microsoft.com/office/drawing/2014/main" id="{7A6D9C3B-767E-4EF0-912B-364A660E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IR AND weight</a:t>
            </a:r>
          </a:p>
        </p:txBody>
      </p:sp>
      <p:sp>
        <p:nvSpPr>
          <p:cNvPr id="12" name="security-circle-1">
            <a:extLst xmlns:a="http://schemas.openxmlformats.org/drawingml/2006/main">
              <a:ext uri="{FF2B5EF4-FFF2-40B4-BE49-F238E27FC236}">
                <a16:creationId xmlns:a16="http://schemas.microsoft.com/office/drawing/2014/main" id="{2754D35E-B879-4081-A5D5-8568167E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ecurity-num-1">
            <a:extLst xmlns:a="http://schemas.openxmlformats.org/drawingml/2006/main">
              <a:ext uri="{FF2B5EF4-FFF2-40B4-BE49-F238E27FC236}">
                <a16:creationId xmlns:a16="http://schemas.microsoft.com/office/drawing/2014/main" id="{E7162D2A-02FC-49FA-8398-A7FA7C71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479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security-title-1">
            <a:extLst xmlns:a="http://schemas.openxmlformats.org/drawingml/2006/main">
              <a:ext uri="{FF2B5EF4-FFF2-40B4-BE49-F238E27FC236}">
                <a16:creationId xmlns:a16="http://schemas.microsoft.com/office/drawing/2014/main" id="{5721B604-5E1E-40E6-AB57-6F93472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7147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REQUEST PIN</a:t>
            </a:r>
          </a:p>
        </p:txBody>
      </p:sp>
      <p:sp>
        <p:nvSpPr>
          <p:cNvPr id="15" name="security-body-1">
            <a:extLst xmlns:a="http://schemas.openxmlformats.org/drawingml/2006/main">
              <a:ext uri="{FF2B5EF4-FFF2-40B4-BE49-F238E27FC236}">
                <a16:creationId xmlns:a16="http://schemas.microsoft.com/office/drawing/2014/main" id="{3CADD1ED-ED3F-45CE-AB36-88C1B3CB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1480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Voice prompt</a:t>
            </a:r>
          </a:p>
        </p:txBody>
      </p:sp>
      <p:sp>
        <p:nvSpPr>
          <p:cNvPr id="16" name="security-circle-2">
            <a:extLst xmlns:a="http://schemas.openxmlformats.org/drawingml/2006/main">
              <a:ext uri="{FF2B5EF4-FFF2-40B4-BE49-F238E27FC236}">
                <a16:creationId xmlns:a16="http://schemas.microsoft.com/office/drawing/2014/main" id="{4DA7D9F3-EA19-4DBA-9457-0E5B09C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ecurity-num-2">
            <a:extLst xmlns:a="http://schemas.openxmlformats.org/drawingml/2006/main">
              <a:ext uri="{FF2B5EF4-FFF2-40B4-BE49-F238E27FC236}">
                <a16:creationId xmlns:a16="http://schemas.microsoft.com/office/drawing/2014/main" id="{C00BBE0E-82B4-49CE-B070-99925345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479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security-title-2">
            <a:extLst xmlns:a="http://schemas.openxmlformats.org/drawingml/2006/main">
              <a:ext uri="{FF2B5EF4-FFF2-40B4-BE49-F238E27FC236}">
                <a16:creationId xmlns:a16="http://schemas.microsoft.com/office/drawing/2014/main" id="{23A63C67-5DD0-4782-8E42-999F2C83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147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9" name="security-body-2">
            <a:extLst xmlns:a="http://schemas.openxmlformats.org/drawingml/2006/main">
              <a:ext uri="{FF2B5EF4-FFF2-40B4-BE49-F238E27FC236}">
                <a16:creationId xmlns:a16="http://schemas.microsoft.com/office/drawing/2014/main" id="{990C7F19-4BE7-4EB6-BEC4-E5654658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15 s • 8 digits</a:t>
            </a:r>
          </a:p>
        </p:txBody>
      </p:sp>
      <p:sp>
        <p:nvSpPr>
          <p:cNvPr id="20" name="security-circle-3">
            <a:extLst xmlns:a="http://schemas.openxmlformats.org/drawingml/2006/main">
              <a:ext uri="{FF2B5EF4-FFF2-40B4-BE49-F238E27FC236}">
                <a16:creationId xmlns:a16="http://schemas.microsoft.com/office/drawing/2014/main" id="{E0BDEDB1-DD27-4CE1-AB15-3C06516F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ecurity-num-3">
            <a:extLst xmlns:a="http://schemas.openxmlformats.org/drawingml/2006/main">
              <a:ext uri="{FF2B5EF4-FFF2-40B4-BE49-F238E27FC236}">
                <a16:creationId xmlns:a16="http://schemas.microsoft.com/office/drawing/2014/main" id="{4DBBD228-7100-4414-B303-00CBD5F1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479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4A</a:t>
            </a:r>
          </a:p>
        </p:txBody>
      </p:sp>
      <p:sp>
        <p:nvSpPr>
          <p:cNvPr id="22" name="security-title-3">
            <a:extLst xmlns:a="http://schemas.openxmlformats.org/drawingml/2006/main">
              <a:ext uri="{FF2B5EF4-FFF2-40B4-BE49-F238E27FC236}">
                <a16:creationId xmlns:a16="http://schemas.microsoft.com/office/drawing/2014/main" id="{4753CA50-6315-4AF3-B1F2-F7BF865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147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23" name="security-body-3">
            <a:extLst xmlns:a="http://schemas.openxmlformats.org/drawingml/2006/main">
              <a:ext uri="{FF2B5EF4-FFF2-40B4-BE49-F238E27FC236}">
                <a16:creationId xmlns:a16="http://schemas.microsoft.com/office/drawing/2014/main" id="{06F99195-1D4B-48B8-B1F2-47023E4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Door opens 5 s</a:t>
            </a:r>
          </a:p>
        </p:txBody>
      </p:sp>
      <p:sp>
        <p:nvSpPr>
          <p:cNvPr id="24" name="security-circle-4">
            <a:extLst xmlns:a="http://schemas.openxmlformats.org/drawingml/2006/main">
              <a:ext uri="{FF2B5EF4-FFF2-40B4-BE49-F238E27FC236}">
                <a16:creationId xmlns:a16="http://schemas.microsoft.com/office/drawing/2014/main" id="{AE880AD5-2097-48AE-8402-050837C8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717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curity-num-4">
            <a:extLst xmlns:a="http://schemas.openxmlformats.org/drawingml/2006/main">
              <a:ext uri="{FF2B5EF4-FFF2-40B4-BE49-F238E27FC236}">
                <a16:creationId xmlns:a16="http://schemas.microsoft.com/office/drawing/2014/main" id="{2D3C9870-68ED-4EBD-AC3A-89F1C77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479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4B</a:t>
            </a:r>
          </a:p>
        </p:txBody>
      </p:sp>
      <p:sp>
        <p:nvSpPr>
          <p:cNvPr id="26" name="security-title-4">
            <a:extLst xmlns:a="http://schemas.openxmlformats.org/drawingml/2006/main">
              <a:ext uri="{FF2B5EF4-FFF2-40B4-BE49-F238E27FC236}">
                <a16:creationId xmlns:a16="http://schemas.microsoft.com/office/drawing/2014/main" id="{5DD99542-0C04-480E-AF16-EB6632C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7147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3 WRONG</a:t>
            </a:r>
          </a:p>
        </p:txBody>
      </p:sp>
      <p:sp>
        <p:nvSpPr>
          <p:cNvPr id="27" name="security-body-4">
            <a:extLst xmlns:a="http://schemas.openxmlformats.org/drawingml/2006/main">
              <a:ext uri="{FF2B5EF4-FFF2-40B4-BE49-F238E27FC236}">
                <a16:creationId xmlns:a16="http://schemas.microsoft.com/office/drawing/2014/main" id="{89D5D24D-5E2A-488B-933A-D0B36003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14800"/>
            <a:ext cx="1485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Sticky alarm</a:t>
            </a:r>
          </a:p>
        </p:txBody>
      </p:sp>
      <p:sp>
        <p:nvSpPr>
          <p:cNvPr id="28" name="security-note">
            <a:extLst xmlns:a="http://schemas.openxmlformats.org/drawingml/2006/main">
              <a:ext uri="{FF2B5EF4-FFF2-40B4-BE49-F238E27FC236}">
                <a16:creationId xmlns:a16="http://schemas.microsoft.com/office/drawing/2014/main" id="{D8AE3D9F-3F30-4895-A972-5B8A67F4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ecurity-note-text">
            <a:extLst xmlns:a="http://schemas.openxmlformats.org/drawingml/2006/main">
              <a:ext uri="{FF2B5EF4-FFF2-40B4-BE49-F238E27FC236}">
                <a16:creationId xmlns:a16="http://schemas.microsoft.com/office/drawing/2014/main" id="{758FA948-9415-4866-90A7-3A947FE3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14950"/>
            <a:ext cx="853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Automatic response: the servo opens only after a correct PIN; the thief buzzer remains active until a correct PIN clears it.</a:t>
            </a:r>
          </a:p>
        </p:txBody>
      </p:sp>
    </p:spTree>
    <p:extLst>
      <p:ext uri="{BB962C8B-B14F-4D97-AF65-F5344CB8AC3E}">
        <p14:creationId xmlns:p14="http://schemas.microsoft.com/office/powerpoint/2010/main" val="2100342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6">
            <a:extLst xmlns:a="http://schemas.openxmlformats.org/drawingml/2006/main">
              <a:ext uri="{FF2B5EF4-FFF2-40B4-BE49-F238E27FC236}">
                <a16:creationId xmlns:a16="http://schemas.microsoft.com/office/drawing/2014/main" id="{70738842-D3DF-4785-8C4D-441C4860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03CE010F-0977-4B3C-82B0-9609366B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fire controller advances through testable states</a:t>
            </a:r>
          </a:p>
        </p:txBody>
      </p:sp>
      <p:sp>
        <p:nvSpPr>
          <p:cNvPr id="3" name="presenter-6">
            <a:extLst xmlns:a="http://schemas.openxmlformats.org/drawingml/2006/main">
              <a:ext uri="{FF2B5EF4-FFF2-40B4-BE49-F238E27FC236}">
                <a16:creationId xmlns:a16="http://schemas.microsoft.com/office/drawing/2014/main" id="{69EB64C6-6F00-4418-BD95-A5F08B2F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6">
            <a:extLst xmlns:a="http://schemas.openxmlformats.org/drawingml/2006/main">
              <a:ext uri="{FF2B5EF4-FFF2-40B4-BE49-F238E27FC236}">
                <a16:creationId xmlns:a16="http://schemas.microsoft.com/office/drawing/2014/main" id="{8A1C0B22-4D51-48BF-A5A4-ADDB7FE6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MAKRAM  3/3</a:t>
            </a:r>
          </a:p>
        </p:txBody>
      </p:sp>
      <p:cxnSp>
        <p:nvCxnSpPr>
          <p:cNvPr id="39" name="header-line-6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E2E3B5FE-4642-4D03-B1AD-DC1E460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06</a:t>
            </a:r>
          </a:p>
        </p:txBody>
      </p:sp>
      <p:cxnSp>
        <p:nvCxnSpPr>
          <p:cNvPr id="41" name="f-1"/>
          <p:cNvCxnSpPr/>
          <p:nvPr/>
        </p:nvCxnSpPr>
        <p:spPr>
          <a:xfrm xmlns:a="http://schemas.openxmlformats.org/drawingml/2006/main">
            <a:off x="1762125" y="2381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484D"/>
            </a:solidFill>
            <a:prstDash val="solid"/>
          </a:ln>
        </p:spPr>
      </p:cxnSp>
      <p:cxnSp>
        <p:nvCxnSpPr>
          <p:cNvPr id="42" name="f-2"/>
          <p:cNvCxnSpPr/>
          <p:nvPr/>
        </p:nvCxnSpPr>
        <p:spPr>
          <a:xfrm xmlns:a="http://schemas.openxmlformats.org/drawingml/2006/main">
            <a:off x="4143375" y="2381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59E0B"/>
            </a:solidFill>
            <a:prstDash val="solid"/>
          </a:ln>
        </p:spPr>
      </p:cxnSp>
      <p:cxnSp>
        <p:nvCxnSpPr>
          <p:cNvPr id="43" name="f-3"/>
          <p:cNvCxnSpPr/>
          <p:nvPr/>
        </p:nvCxnSpPr>
        <p:spPr>
          <a:xfrm xmlns:a="http://schemas.openxmlformats.org/drawingml/2006/main">
            <a:off x="6524625" y="2381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563EB"/>
            </a:solidFill>
            <a:prstDash val="solid"/>
          </a:ln>
        </p:spPr>
      </p:cxnSp>
      <p:cxnSp>
        <p:nvCxnSpPr>
          <p:cNvPr id="44" name="f-4"/>
          <p:cNvCxnSpPr/>
          <p:nvPr/>
        </p:nvCxnSpPr>
        <p:spPr>
          <a:xfrm xmlns:a="http://schemas.openxmlformats.org/drawingml/2006/main">
            <a:off x="8905875" y="2381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6A34A"/>
            </a:solidFill>
            <a:prstDash val="solid"/>
          </a:ln>
        </p:spPr>
      </p:cxnSp>
      <p:cxnSp>
        <p:nvCxnSpPr>
          <p:cNvPr id="45" name="f-block"/>
          <p:cNvCxnSpPr/>
          <p:nvPr/>
        </p:nvCxnSpPr>
        <p:spPr>
          <a:xfrm xmlns:a="http://schemas.openxmlformats.org/drawingml/2006/main">
            <a:off x="6191250" y="2809875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484D"/>
            </a:solidFill>
            <a:prstDash val="solid"/>
          </a:ln>
        </p:spPr>
      </p:cxnSp>
      <p:sp>
        <p:nvSpPr>
          <p:cNvPr id="12" name="idle-box">
            <a:extLst xmlns:a="http://schemas.openxmlformats.org/drawingml/2006/main">
              <a:ext uri="{FF2B5EF4-FFF2-40B4-BE49-F238E27FC236}">
                <a16:creationId xmlns:a16="http://schemas.microsoft.com/office/drawing/2014/main" id="{25653ABA-9FCE-449C-9BF1-1B333C57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381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dle-text">
            <a:extLst xmlns:a="http://schemas.openxmlformats.org/drawingml/2006/main">
              <a:ext uri="{FF2B5EF4-FFF2-40B4-BE49-F238E27FC236}">
                <a16:creationId xmlns:a16="http://schemas.microsoft.com/office/drawing/2014/main" id="{E157E5FF-703C-4BC1-9226-90F39FAE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IDLE</a:t>
            </a:r>
          </a:p>
        </p:txBody>
      </p:sp>
      <p:sp>
        <p:nvSpPr>
          <p:cNvPr id="14" name="detected-box">
            <a:extLst xmlns:a="http://schemas.openxmlformats.org/drawingml/2006/main">
              <a:ext uri="{FF2B5EF4-FFF2-40B4-BE49-F238E27FC236}">
                <a16:creationId xmlns:a16="http://schemas.microsoft.com/office/drawing/2014/main" id="{C3563B9F-F00C-44AE-8972-6B0F0D55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1381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tected-text">
            <a:extLst xmlns:a="http://schemas.openxmlformats.org/drawingml/2006/main">
              <a:ext uri="{FF2B5EF4-FFF2-40B4-BE49-F238E27FC236}">
                <a16:creationId xmlns:a16="http://schemas.microsoft.com/office/drawing/2014/main" id="{F9F8376B-26FB-47C3-8F03-88C6D975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28825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FIRE</a:t>
            </a:r>
          </a:p>
          <a:p xmlns:a="http://schemas.openxmlformats.org/drawingml/2006/main">
            <a:pPr algn="ctr">
              <a:defRPr sz="1275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DETECTED</a:t>
            </a:r>
          </a:p>
        </p:txBody>
      </p:sp>
      <p:sp>
        <p:nvSpPr>
          <p:cNvPr id="16" name="pumping-box">
            <a:extLst xmlns:a="http://schemas.openxmlformats.org/drawingml/2006/main">
              <a:ext uri="{FF2B5EF4-FFF2-40B4-BE49-F238E27FC236}">
                <a16:creationId xmlns:a16="http://schemas.microsoft.com/office/drawing/2014/main" id="{16ABB1F1-D69E-45E4-93F9-1FD3A300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1381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umping-text">
            <a:extLst xmlns:a="http://schemas.openxmlformats.org/drawingml/2006/main">
              <a:ext uri="{FF2B5EF4-FFF2-40B4-BE49-F238E27FC236}">
                <a16:creationId xmlns:a16="http://schemas.microsoft.com/office/drawing/2014/main" id="{80F2E8B7-C313-4E2D-931E-2F141AA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28825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PUMPING</a:t>
            </a:r>
          </a:p>
        </p:txBody>
      </p:sp>
      <p:sp>
        <p:nvSpPr>
          <p:cNvPr id="18" name="humid-box">
            <a:extLst xmlns:a="http://schemas.openxmlformats.org/drawingml/2006/main">
              <a:ext uri="{FF2B5EF4-FFF2-40B4-BE49-F238E27FC236}">
                <a16:creationId xmlns:a16="http://schemas.microsoft.com/office/drawing/2014/main" id="{6EEF239B-F81E-4ECA-9A58-D707EC2D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1381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mid-text">
            <a:extLst xmlns:a="http://schemas.openxmlformats.org/drawingml/2006/main">
              <a:ext uri="{FF2B5EF4-FFF2-40B4-BE49-F238E27FC236}">
                <a16:creationId xmlns:a16="http://schemas.microsoft.com/office/drawing/2014/main" id="{FA061418-6FCC-42F3-8DE2-FDD08B23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28825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HUMIDIFYING</a:t>
            </a:r>
          </a:p>
        </p:txBody>
      </p:sp>
      <p:sp>
        <p:nvSpPr>
          <p:cNvPr id="20" name="stable-box">
            <a:extLst xmlns:a="http://schemas.openxmlformats.org/drawingml/2006/main">
              <a:ext uri="{FF2B5EF4-FFF2-40B4-BE49-F238E27FC236}">
                <a16:creationId xmlns:a16="http://schemas.microsoft.com/office/drawing/2014/main" id="{E43541F6-2D0F-4C91-847C-5684682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52625"/>
            <a:ext cx="1381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ble-text">
            <a:extLst xmlns:a="http://schemas.openxmlformats.org/drawingml/2006/main">
              <a:ext uri="{FF2B5EF4-FFF2-40B4-BE49-F238E27FC236}">
                <a16:creationId xmlns:a16="http://schemas.microsoft.com/office/drawing/2014/main" id="{020A1186-47B2-4809-91B6-32FF1098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28825"/>
            <a:ext cx="1190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STABLE</a:t>
            </a:r>
          </a:p>
        </p:txBody>
      </p:sp>
      <p:sp>
        <p:nvSpPr>
          <p:cNvPr id="22" name="blocked-box">
            <a:extLst xmlns:a="http://schemas.openxmlformats.org/drawingml/2006/main">
              <a:ext uri="{FF2B5EF4-FFF2-40B4-BE49-F238E27FC236}">
                <a16:creationId xmlns:a16="http://schemas.microsoft.com/office/drawing/2014/main" id="{81C4632B-3A30-4EBC-92C4-51AE6CAC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locked-text">
            <a:extLst xmlns:a="http://schemas.openxmlformats.org/drawingml/2006/main">
              <a:ext uri="{FF2B5EF4-FFF2-40B4-BE49-F238E27FC236}">
                <a16:creationId xmlns:a16="http://schemas.microsoft.com/office/drawing/2014/main" id="{257D6AD7-1E87-43EC-ACBE-2B5B90CA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624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BLOCKED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latched</a:t>
            </a:r>
          </a:p>
        </p:txBody>
      </p:sp>
      <p:sp>
        <p:nvSpPr>
          <p:cNvPr id="24" name="t27-shape">
            <a:extLst xmlns:a="http://schemas.openxmlformats.org/drawingml/2006/main">
              <a:ext uri="{FF2B5EF4-FFF2-40B4-BE49-F238E27FC236}">
                <a16:creationId xmlns:a16="http://schemas.microsoft.com/office/drawing/2014/main" id="{8E6691B6-0415-4214-999F-7EBE69A9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47825"/>
            <a:ext cx="10001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27-text">
            <a:extLst xmlns:a="http://schemas.openxmlformats.org/drawingml/2006/main">
              <a:ext uri="{FF2B5EF4-FFF2-40B4-BE49-F238E27FC236}">
                <a16:creationId xmlns:a16="http://schemas.microsoft.com/office/drawing/2014/main" id="{19A1FBCF-9ED7-4014-95B3-6B10CFBA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049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&gt; 27°C</a:t>
            </a:r>
          </a:p>
        </p:txBody>
      </p:sp>
      <p:sp>
        <p:nvSpPr>
          <p:cNvPr id="26" name="pumpstart-shape">
            <a:extLst xmlns:a="http://schemas.openxmlformats.org/drawingml/2006/main">
              <a:ext uri="{FF2B5EF4-FFF2-40B4-BE49-F238E27FC236}">
                <a16:creationId xmlns:a16="http://schemas.microsoft.com/office/drawing/2014/main" id="{F4BD5BCA-3F03-4DF4-89D6-05AB756E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47825"/>
            <a:ext cx="100012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umpstart-text">
            <a:extLst xmlns:a="http://schemas.openxmlformats.org/drawingml/2006/main">
              <a:ext uri="{FF2B5EF4-FFF2-40B4-BE49-F238E27FC236}">
                <a16:creationId xmlns:a16="http://schemas.microsoft.com/office/drawing/2014/main" id="{349681A7-606F-412E-83C5-73DAE2FE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049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pump ON</a:t>
            </a:r>
          </a:p>
        </p:txBody>
      </p:sp>
      <p:sp>
        <p:nvSpPr>
          <p:cNvPr id="28" name="run55-shape">
            <a:extLst xmlns:a="http://schemas.openxmlformats.org/drawingml/2006/main">
              <a:ext uri="{FF2B5EF4-FFF2-40B4-BE49-F238E27FC236}">
                <a16:creationId xmlns:a16="http://schemas.microsoft.com/office/drawing/2014/main" id="{3B19D5A6-03F0-427E-B443-B240EEE6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47825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un55-text">
            <a:extLst xmlns:a="http://schemas.openxmlformats.org/drawingml/2006/main">
              <a:ext uri="{FF2B5EF4-FFF2-40B4-BE49-F238E27FC236}">
                <a16:creationId xmlns:a16="http://schemas.microsoft.com/office/drawing/2014/main" id="{76652E80-7EB7-41EB-9221-28705662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049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55 s + flow</a:t>
            </a:r>
          </a:p>
        </p:txBody>
      </p:sp>
      <p:sp>
        <p:nvSpPr>
          <p:cNvPr id="30" name="hum70-shape">
            <a:extLst xmlns:a="http://schemas.openxmlformats.org/drawingml/2006/main">
              <a:ext uri="{FF2B5EF4-FFF2-40B4-BE49-F238E27FC236}">
                <a16:creationId xmlns:a16="http://schemas.microsoft.com/office/drawing/2014/main" id="{693266FD-36EB-48B9-A463-F21DED39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47825"/>
            <a:ext cx="1047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m70-text">
            <a:extLst xmlns:a="http://schemas.openxmlformats.org/drawingml/2006/main">
              <a:ext uri="{FF2B5EF4-FFF2-40B4-BE49-F238E27FC236}">
                <a16:creationId xmlns:a16="http://schemas.microsoft.com/office/drawing/2014/main" id="{C04AF5A4-CB81-4D7F-B56A-B0D645FA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049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≥ 70% RH</a:t>
            </a:r>
          </a:p>
        </p:txBody>
      </p:sp>
      <p:sp>
        <p:nvSpPr>
          <p:cNvPr id="32" name="block-label">
            <a:extLst xmlns:a="http://schemas.openxmlformats.org/drawingml/2006/main">
              <a:ext uri="{FF2B5EF4-FFF2-40B4-BE49-F238E27FC236}">
                <a16:creationId xmlns:a16="http://schemas.microsoft.com/office/drawing/2014/main" id="{8583142F-B3CF-4FB4-AFD9-7827BB0D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≤ 0.05 L/min</a:t>
            </a:r>
          </a:p>
        </p:txBody>
      </p:sp>
      <p:sp>
        <p:nvSpPr>
          <p:cNvPr id="33" name="stable-return">
            <a:extLst xmlns:a="http://schemas.openxmlformats.org/drawingml/2006/main">
              <a:ext uri="{FF2B5EF4-FFF2-40B4-BE49-F238E27FC236}">
                <a16:creationId xmlns:a16="http://schemas.microsoft.com/office/drawing/2014/main" id="{3586D2E5-60D5-4A91-B79C-938B4D6F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next cycle → IDLE</a:t>
            </a:r>
          </a:p>
        </p:txBody>
      </p:sp>
      <p:sp>
        <p:nvSpPr>
          <p:cNvPr id="34" name="fire-desc">
            <a:extLst xmlns:a="http://schemas.openxmlformats.org/drawingml/2006/main">
              <a:ext uri="{FF2B5EF4-FFF2-40B4-BE49-F238E27FC236}">
                <a16:creationId xmlns:a16="http://schemas.microsoft.com/office/drawing/2014/main" id="{FFB293E0-B992-45BD-B6DA-1B2E0A56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pump runs for the full 55 seconds unless flow indicates blockage. Temperature falling does not stop the pump early.</a:t>
            </a:r>
          </a:p>
        </p:txBody>
      </p:sp>
    </p:spTree>
    <p:extLst>
      <p:ext uri="{BB962C8B-B14F-4D97-AF65-F5344CB8AC3E}">
        <p14:creationId xmlns:p14="http://schemas.microsoft.com/office/powerpoint/2010/main" val="1559700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7">
            <a:extLst xmlns:a="http://schemas.openxmlformats.org/drawingml/2006/main">
              <a:ext uri="{FF2B5EF4-FFF2-40B4-BE49-F238E27FC236}">
                <a16:creationId xmlns:a16="http://schemas.microsoft.com/office/drawing/2014/main" id="{A71A5AE3-883F-42CE-B139-567D7BE7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A46A304-968B-4851-9E3E-C8B6430D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Timestamped CSV makes system behavior visible</a:t>
            </a:r>
          </a:p>
        </p:txBody>
      </p:sp>
      <p:sp>
        <p:nvSpPr>
          <p:cNvPr id="3" name="presenter-7">
            <a:extLst xmlns:a="http://schemas.openxmlformats.org/drawingml/2006/main">
              <a:ext uri="{FF2B5EF4-FFF2-40B4-BE49-F238E27FC236}">
                <a16:creationId xmlns:a16="http://schemas.microsoft.com/office/drawing/2014/main" id="{BD23972F-E59D-4D63-92E4-21404173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7">
            <a:extLst xmlns:a="http://schemas.openxmlformats.org/drawingml/2006/main">
              <a:ext uri="{FF2B5EF4-FFF2-40B4-BE49-F238E27FC236}">
                <a16:creationId xmlns:a16="http://schemas.microsoft.com/office/drawing/2014/main" id="{B71785A2-C095-4B1A-A445-9BC47348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NASSIM  1/3</a:t>
            </a:r>
          </a:p>
        </p:txBody>
      </p:sp>
      <p:cxnSp>
        <p:nvCxnSpPr>
          <p:cNvPr id="29" name="header-line-7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EECEFE7E-5F6D-42E7-B167-ABD5CBE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07</a:t>
            </a:r>
          </a:p>
        </p:txBody>
      </p:sp>
      <p:sp>
        <p:nvSpPr>
          <p:cNvPr id="7" name="terminal">
            <a:extLst xmlns:a="http://schemas.openxmlformats.org/drawingml/2006/main">
              <a:ext uri="{FF2B5EF4-FFF2-40B4-BE49-F238E27FC236}">
                <a16:creationId xmlns:a16="http://schemas.microsoft.com/office/drawing/2014/main" id="{B0FF2688-4FBB-405A-BF1D-B4162002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72390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423AB671-271A-4C9A-9AF4-E184CBD3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SERIAL MONITOR  •  9600 baud</a:t>
            </a:r>
          </a:p>
        </p:txBody>
      </p:sp>
      <p:sp>
        <p:nvSpPr>
          <p:cNvPr id="9" name="terminal-header">
            <a:extLst xmlns:a="http://schemas.openxmlformats.org/drawingml/2006/main">
              <a:ext uri="{FF2B5EF4-FFF2-40B4-BE49-F238E27FC236}">
                <a16:creationId xmlns:a16="http://schemas.microsoft.com/office/drawing/2014/main" id="{69A83BB9-0340-4B71-B947-82917AF5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7E8F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7E8F9"/>
                </a:solidFill>
                <a:latin typeface="Aptos"/>
                <a:ea typeface="Aptos"/>
                <a:cs typeface="Aptos"/>
              </a:rPr>
              <a:t>timestamp,temp,humidity,entry_weight,IR,weight,person,flow,state,wrong</a:t>
            </a:r>
          </a:p>
        </p:txBody>
      </p:sp>
      <p:cxnSp>
        <p:nvCxnSpPr>
          <p:cNvPr id="34" name="terminal-rule"/>
          <p:cNvCxnSpPr/>
          <p:nvPr/>
        </p:nvCxnSpPr>
        <p:spPr>
          <a:xfrm xmlns:a="http://schemas.openxmlformats.org/drawingml/2006/main">
            <a:off x="857250" y="2952750"/>
            <a:ext cx="657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4155"/>
            </a:solidFill>
            <a:prstDash val="solid"/>
          </a:ln>
        </p:spPr>
      </p:cxnSp>
      <p:sp>
        <p:nvSpPr>
          <p:cNvPr id="11" name="terminal-row">
            <a:extLst xmlns:a="http://schemas.openxmlformats.org/drawingml/2006/main">
              <a:ext uri="{FF2B5EF4-FFF2-40B4-BE49-F238E27FC236}">
                <a16:creationId xmlns:a16="http://schemas.microsoft.com/office/drawing/2014/main" id="{AF7FF796-C952-456E-9BD6-B5AE5139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15000,25.4,54.0,68.2,1,1,1,0.00,IDLE,0</a:t>
            </a:r>
          </a:p>
        </p:txBody>
      </p:sp>
      <p:sp>
        <p:nvSpPr>
          <p:cNvPr id="12" name="terminal-row2">
            <a:extLst xmlns:a="http://schemas.openxmlformats.org/drawingml/2006/main">
              <a:ext uri="{FF2B5EF4-FFF2-40B4-BE49-F238E27FC236}">
                <a16:creationId xmlns:a16="http://schemas.microsoft.com/office/drawing/2014/main" id="{6A095FBC-3B7B-49FA-937C-63231332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DE68A"/>
                </a:solidFill>
                <a:latin typeface="Aptos"/>
                <a:ea typeface="Aptos"/>
                <a:cs typeface="Aptos"/>
              </a:rPr>
              <a:t>20000,28.1,55.2,0.0,0,0,0,0.12,PUMPING,0</a:t>
            </a:r>
          </a:p>
        </p:txBody>
      </p:sp>
      <p:sp>
        <p:nvSpPr>
          <p:cNvPr id="13" name="terminal-note">
            <a:extLst xmlns:a="http://schemas.openxmlformats.org/drawingml/2006/main">
              <a:ext uri="{FF2B5EF4-FFF2-40B4-BE49-F238E27FC236}">
                <a16:creationId xmlns:a16="http://schemas.microsoft.com/office/drawing/2014/main" id="{1F566605-9C8C-4861-B6F3-C910F850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Each row is machine-readable and immediately importable into Excel, MATLAB, or Python.</a:t>
            </a:r>
          </a:p>
        </p:txBody>
      </p:sp>
      <p:sp>
        <p:nvSpPr>
          <p:cNvPr id="14" name="csv-side-head">
            <a:extLst xmlns:a="http://schemas.openxmlformats.org/drawingml/2006/main">
              <a:ext uri="{FF2B5EF4-FFF2-40B4-BE49-F238E27FC236}">
                <a16:creationId xmlns:a16="http://schemas.microsoft.com/office/drawing/2014/main" id="{02E12C33-1300-42A6-AA5A-8DCB936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What the evidence proves</a:t>
            </a:r>
          </a:p>
        </p:txBody>
      </p:sp>
      <p:sp>
        <p:nvSpPr>
          <p:cNvPr id="15" name="csv-b1-dot">
            <a:extLst xmlns:a="http://schemas.openxmlformats.org/drawingml/2006/main">
              <a:ext uri="{FF2B5EF4-FFF2-40B4-BE49-F238E27FC236}">
                <a16:creationId xmlns:a16="http://schemas.microsoft.com/office/drawing/2014/main" id="{2D4A7242-D047-42C9-8D8C-E61F07E5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sv-b1-text">
            <a:extLst xmlns:a="http://schemas.openxmlformats.org/drawingml/2006/main">
              <a:ext uri="{FF2B5EF4-FFF2-40B4-BE49-F238E27FC236}">
                <a16:creationId xmlns:a16="http://schemas.microsoft.com/office/drawing/2014/main" id="{D879B4CC-F298-40AB-99E0-61CDDB20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Real-time system status</a:t>
            </a:r>
          </a:p>
        </p:txBody>
      </p:sp>
      <p:sp>
        <p:nvSpPr>
          <p:cNvPr id="17" name="csv-b2-dot">
            <a:extLst xmlns:a="http://schemas.openxmlformats.org/drawingml/2006/main">
              <a:ext uri="{FF2B5EF4-FFF2-40B4-BE49-F238E27FC236}">
                <a16:creationId xmlns:a16="http://schemas.microsoft.com/office/drawing/2014/main" id="{90F0934D-AB43-4677-AA9A-DA0F6113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sv-b2-text">
            <a:extLst xmlns:a="http://schemas.openxmlformats.org/drawingml/2006/main">
              <a:ext uri="{FF2B5EF4-FFF2-40B4-BE49-F238E27FC236}">
                <a16:creationId xmlns:a16="http://schemas.microsoft.com/office/drawing/2014/main" id="{B5C26179-6B14-40CF-BBDC-99BF27AB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Sensor fusion is visible</a:t>
            </a:r>
          </a:p>
        </p:txBody>
      </p:sp>
      <p:sp>
        <p:nvSpPr>
          <p:cNvPr id="19" name="csv-b3-dot">
            <a:extLst xmlns:a="http://schemas.openxmlformats.org/drawingml/2006/main">
              <a:ext uri="{FF2B5EF4-FFF2-40B4-BE49-F238E27FC236}">
                <a16:creationId xmlns:a16="http://schemas.microsoft.com/office/drawing/2014/main" id="{19859B22-1AD5-4ECF-9F20-5D1CFD8B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sv-b3-text">
            <a:extLst xmlns:a="http://schemas.openxmlformats.org/drawingml/2006/main">
              <a:ext uri="{FF2B5EF4-FFF2-40B4-BE49-F238E27FC236}">
                <a16:creationId xmlns:a16="http://schemas.microsoft.com/office/drawing/2014/main" id="{05B8C2B5-0E01-4B89-B051-3A3EC870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Fire states are traceable</a:t>
            </a:r>
          </a:p>
        </p:txBody>
      </p:sp>
      <p:sp>
        <p:nvSpPr>
          <p:cNvPr id="21" name="csv-b4-dot">
            <a:extLst xmlns:a="http://schemas.openxmlformats.org/drawingml/2006/main">
              <a:ext uri="{FF2B5EF4-FFF2-40B4-BE49-F238E27FC236}">
                <a16:creationId xmlns:a16="http://schemas.microsoft.com/office/drawing/2014/main" id="{9E7A3B52-F345-4CE6-9531-EEBAFD0F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sv-b4-text">
            <a:extLst xmlns:a="http://schemas.openxmlformats.org/drawingml/2006/main">
              <a:ext uri="{FF2B5EF4-FFF2-40B4-BE49-F238E27FC236}">
                <a16:creationId xmlns:a16="http://schemas.microsoft.com/office/drawing/2014/main" id="{327CB012-8278-44AC-B525-F28F5D51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243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At least 60 s can be logged</a:t>
            </a:r>
          </a:p>
        </p:txBody>
      </p:sp>
      <p:sp>
        <p:nvSpPr>
          <p:cNvPr id="23" name="csv-rate-shape">
            <a:extLst xmlns:a="http://schemas.openxmlformats.org/drawingml/2006/main">
              <a:ext uri="{FF2B5EF4-FFF2-40B4-BE49-F238E27FC236}">
                <a16:creationId xmlns:a16="http://schemas.microsoft.com/office/drawing/2014/main" id="{0103D1A3-2652-4B1D-8BE3-D21B92D1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197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sv-rate-text">
            <a:extLst xmlns:a="http://schemas.openxmlformats.org/drawingml/2006/main">
              <a:ext uri="{FF2B5EF4-FFF2-40B4-BE49-F238E27FC236}">
                <a16:creationId xmlns:a16="http://schemas.microsoft.com/office/drawing/2014/main" id="{A863716A-5FA8-49CE-B50A-5024A60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CSV every 5 seconds</a:t>
            </a:r>
          </a:p>
        </p:txBody>
      </p:sp>
    </p:spTree>
    <p:extLst>
      <p:ext uri="{BB962C8B-B14F-4D97-AF65-F5344CB8AC3E}">
        <p14:creationId xmlns:p14="http://schemas.microsoft.com/office/powerpoint/2010/main" val="1567126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8">
            <a:extLst xmlns:a="http://schemas.openxmlformats.org/drawingml/2006/main">
              <a:ext uri="{FF2B5EF4-FFF2-40B4-BE49-F238E27FC236}">
                <a16:creationId xmlns:a16="http://schemas.microsoft.com/office/drawing/2014/main" id="{CC0E2675-FE5E-40C5-ADA4-D67FD961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7AA1F5E-7994-4643-AFD4-B2F3BBDE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Calibration turns raw readings into measurements</a:t>
            </a:r>
          </a:p>
        </p:txBody>
      </p:sp>
      <p:sp>
        <p:nvSpPr>
          <p:cNvPr id="3" name="presenter-8">
            <a:extLst xmlns:a="http://schemas.openxmlformats.org/drawingml/2006/main">
              <a:ext uri="{FF2B5EF4-FFF2-40B4-BE49-F238E27FC236}">
                <a16:creationId xmlns:a16="http://schemas.microsoft.com/office/drawing/2014/main" id="{DA0D157A-0143-49DA-BD07-5717E7F4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8">
            <a:extLst xmlns:a="http://schemas.openxmlformats.org/drawingml/2006/main">
              <a:ext uri="{FF2B5EF4-FFF2-40B4-BE49-F238E27FC236}">
                <a16:creationId xmlns:a16="http://schemas.microsoft.com/office/drawing/2014/main" id="{4ADC481A-A794-4885-A632-EFE8B8E4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NASSIM  2/3</a:t>
            </a:r>
          </a:p>
        </p:txBody>
      </p:sp>
      <p:cxnSp>
        <p:nvCxnSpPr>
          <p:cNvPr id="36" name="header-line-8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8">
            <a:extLst xmlns:a="http://schemas.openxmlformats.org/drawingml/2006/main">
              <a:ext uri="{FF2B5EF4-FFF2-40B4-BE49-F238E27FC236}">
                <a16:creationId xmlns:a16="http://schemas.microsoft.com/office/drawing/2014/main" id="{4A502437-7A28-4509-B55A-6F69270F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08</a:t>
            </a:r>
          </a:p>
        </p:txBody>
      </p:sp>
      <p:cxnSp>
        <p:nvCxnSpPr>
          <p:cNvPr id="38" name="cal-line-0"/>
          <p:cNvCxnSpPr/>
          <p:nvPr/>
        </p:nvCxnSpPr>
        <p:spPr>
          <a:xfrm xmlns:a="http://schemas.openxmlformats.org/drawingml/2006/main">
            <a:off x="2781300" y="30480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8" name="cal-circle-0">
            <a:extLst xmlns:a="http://schemas.openxmlformats.org/drawingml/2006/main">
              <a:ext uri="{FF2B5EF4-FFF2-40B4-BE49-F238E27FC236}">
                <a16:creationId xmlns:a16="http://schemas.microsoft.com/office/drawing/2014/main" id="{A2100296-5FE8-4CC5-A82C-720B93E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526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l-icon-0">
            <a:extLst xmlns:a="http://schemas.openxmlformats.org/drawingml/2006/main">
              <a:ext uri="{FF2B5EF4-FFF2-40B4-BE49-F238E27FC236}">
                <a16:creationId xmlns:a16="http://schemas.microsoft.com/office/drawing/2014/main" id="{AE6C865C-8DC6-4088-8F2E-C2733544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05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kg</a:t>
            </a:r>
          </a:p>
        </p:txBody>
      </p:sp>
      <p:sp>
        <p:nvSpPr>
          <p:cNvPr id="10" name="cal-title-0">
            <a:extLst xmlns:a="http://schemas.openxmlformats.org/drawingml/2006/main">
              <a:ext uri="{FF2B5EF4-FFF2-40B4-BE49-F238E27FC236}">
                <a16:creationId xmlns:a16="http://schemas.microsoft.com/office/drawing/2014/main" id="{CF612DC6-4A03-45C0-9765-492834FA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  REFERENCE</a:t>
            </a:r>
          </a:p>
        </p:txBody>
      </p:sp>
      <p:sp>
        <p:nvSpPr>
          <p:cNvPr id="11" name="cal-body-bg-0">
            <a:extLst xmlns:a="http://schemas.openxmlformats.org/drawingml/2006/main">
              <a:ext uri="{FF2B5EF4-FFF2-40B4-BE49-F238E27FC236}">
                <a16:creationId xmlns:a16="http://schemas.microsoft.com/office/drawing/2014/main" id="{6896CAFE-CA3F-44E6-8271-9C14AB9B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-body-0">
            <a:extLst xmlns:a="http://schemas.openxmlformats.org/drawingml/2006/main">
              <a:ext uri="{FF2B5EF4-FFF2-40B4-BE49-F238E27FC236}">
                <a16:creationId xmlns:a16="http://schemas.microsoft.com/office/drawing/2014/main" id="{AC5E532A-9557-4A7E-B216-128DE1F1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 at least three known weights or flow volumes.</a:t>
            </a:r>
          </a:p>
        </p:txBody>
      </p:sp>
      <p:cxnSp>
        <p:nvCxnSpPr>
          <p:cNvPr id="44" name="cal-line-1"/>
          <p:cNvCxnSpPr/>
          <p:nvPr/>
        </p:nvCxnSpPr>
        <p:spPr>
          <a:xfrm xmlns:a="http://schemas.openxmlformats.org/drawingml/2006/main">
            <a:off x="5524500" y="30480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14" name="cal-circle-1">
            <a:extLst xmlns:a="http://schemas.openxmlformats.org/drawingml/2006/main">
              <a:ext uri="{FF2B5EF4-FFF2-40B4-BE49-F238E27FC236}">
                <a16:creationId xmlns:a16="http://schemas.microsoft.com/office/drawing/2014/main" id="{41477789-EE1F-41EF-A05B-45B35FCE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l-icon-1">
            <a:extLst xmlns:a="http://schemas.openxmlformats.org/drawingml/2006/main">
              <a:ext uri="{FF2B5EF4-FFF2-40B4-BE49-F238E27FC236}">
                <a16:creationId xmlns:a16="http://schemas.microsoft.com/office/drawing/2014/main" id="{4E6F1452-F3DA-44AB-BF08-D1A4CF2B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16" name="cal-title-1">
            <a:extLst xmlns:a="http://schemas.openxmlformats.org/drawingml/2006/main">
              <a:ext uri="{FF2B5EF4-FFF2-40B4-BE49-F238E27FC236}">
                <a16:creationId xmlns:a16="http://schemas.microsoft.com/office/drawing/2014/main" id="{6F481E2D-9551-44B7-A631-3EDCADED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2  RECORD</a:t>
            </a:r>
          </a:p>
        </p:txBody>
      </p:sp>
      <p:sp>
        <p:nvSpPr>
          <p:cNvPr id="17" name="cal-body-bg-1">
            <a:extLst xmlns:a="http://schemas.openxmlformats.org/drawingml/2006/main">
              <a:ext uri="{FF2B5EF4-FFF2-40B4-BE49-F238E27FC236}">
                <a16:creationId xmlns:a16="http://schemas.microsoft.com/office/drawing/2014/main" id="{3C20C973-A401-4DFC-BCEA-19411172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l-body-1">
            <a:extLst xmlns:a="http://schemas.openxmlformats.org/drawingml/2006/main">
              <a:ext uri="{FF2B5EF4-FFF2-40B4-BE49-F238E27FC236}">
                <a16:creationId xmlns:a16="http://schemas.microsoft.com/office/drawing/2014/main" id="{9CF695D0-38E5-4590-A5DF-FD46CF04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Save raw and reference values in the calibration CSV.</a:t>
            </a:r>
          </a:p>
        </p:txBody>
      </p:sp>
      <p:cxnSp>
        <p:nvCxnSpPr>
          <p:cNvPr id="50" name="cal-line-2"/>
          <p:cNvCxnSpPr/>
          <p:nvPr/>
        </p:nvCxnSpPr>
        <p:spPr>
          <a:xfrm xmlns:a="http://schemas.openxmlformats.org/drawingml/2006/main">
            <a:off x="8267700" y="30480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BD5E1"/>
            </a:solidFill>
            <a:prstDash val="solid"/>
          </a:ln>
        </p:spPr>
      </p:cxnSp>
      <p:sp>
        <p:nvSpPr>
          <p:cNvPr id="20" name="cal-circle-2">
            <a:extLst xmlns:a="http://schemas.openxmlformats.org/drawingml/2006/main">
              <a:ext uri="{FF2B5EF4-FFF2-40B4-BE49-F238E27FC236}">
                <a16:creationId xmlns:a16="http://schemas.microsoft.com/office/drawing/2014/main" id="{F59E5DDF-E516-402F-A1D3-EB1B4166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l-icon-2">
            <a:extLst xmlns:a="http://schemas.openxmlformats.org/drawingml/2006/main">
              <a:ext uri="{FF2B5EF4-FFF2-40B4-BE49-F238E27FC236}">
                <a16:creationId xmlns:a16="http://schemas.microsoft.com/office/drawing/2014/main" id="{E45A2247-74C7-4DC7-A887-6CE51F71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±%</a:t>
            </a:r>
          </a:p>
        </p:txBody>
      </p:sp>
      <p:sp>
        <p:nvSpPr>
          <p:cNvPr id="22" name="cal-title-2">
            <a:extLst xmlns:a="http://schemas.openxmlformats.org/drawingml/2006/main">
              <a:ext uri="{FF2B5EF4-FFF2-40B4-BE49-F238E27FC236}">
                <a16:creationId xmlns:a16="http://schemas.microsoft.com/office/drawing/2014/main" id="{90E02F53-BD8F-4AF6-AD10-C6D385BD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  VALIDATE</a:t>
            </a:r>
          </a:p>
        </p:txBody>
      </p:sp>
      <p:sp>
        <p:nvSpPr>
          <p:cNvPr id="23" name="cal-body-bg-2">
            <a:extLst xmlns:a="http://schemas.openxmlformats.org/drawingml/2006/main">
              <a:ext uri="{FF2B5EF4-FFF2-40B4-BE49-F238E27FC236}">
                <a16:creationId xmlns:a16="http://schemas.microsoft.com/office/drawing/2014/main" id="{A3A94332-722E-4752-994A-937853FD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l-body-2">
            <a:extLst xmlns:a="http://schemas.openxmlformats.org/drawingml/2006/main">
              <a:ext uri="{FF2B5EF4-FFF2-40B4-BE49-F238E27FC236}">
                <a16:creationId xmlns:a16="http://schemas.microsoft.com/office/drawing/2014/main" id="{2A75766C-B2C6-468F-B6DF-52330415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Calculate factor, curve, and before/after error.</a:t>
            </a:r>
          </a:p>
        </p:txBody>
      </p:sp>
      <p:sp>
        <p:nvSpPr>
          <p:cNvPr id="25" name="cal-circle-3">
            <a:extLst xmlns:a="http://schemas.openxmlformats.org/drawingml/2006/main">
              <a:ext uri="{FF2B5EF4-FFF2-40B4-BE49-F238E27FC236}">
                <a16:creationId xmlns:a16="http://schemas.microsoft.com/office/drawing/2014/main" id="{7173BD5B-4D58-4FF9-B1FB-0CC1B5D8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526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l-icon-3">
            <a:extLst xmlns:a="http://schemas.openxmlformats.org/drawingml/2006/main">
              <a:ext uri="{FF2B5EF4-FFF2-40B4-BE49-F238E27FC236}">
                <a16:creationId xmlns:a16="http://schemas.microsoft.com/office/drawing/2014/main" id="{3A3F6275-2146-4106-895D-AB702F8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EEPROM</a:t>
            </a:r>
          </a:p>
        </p:txBody>
      </p:sp>
      <p:sp>
        <p:nvSpPr>
          <p:cNvPr id="27" name="cal-title-3">
            <a:extLst xmlns:a="http://schemas.openxmlformats.org/drawingml/2006/main">
              <a:ext uri="{FF2B5EF4-FFF2-40B4-BE49-F238E27FC236}">
                <a16:creationId xmlns:a16="http://schemas.microsoft.com/office/drawing/2014/main" id="{039EB799-1A7F-4ED1-B7B4-2FD86E30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4  PERSIST</a:t>
            </a:r>
          </a:p>
        </p:txBody>
      </p:sp>
      <p:sp>
        <p:nvSpPr>
          <p:cNvPr id="28" name="cal-body-bg-3">
            <a:extLst xmlns:a="http://schemas.openxmlformats.org/drawingml/2006/main">
              <a:ext uri="{FF2B5EF4-FFF2-40B4-BE49-F238E27FC236}">
                <a16:creationId xmlns:a16="http://schemas.microsoft.com/office/drawing/2014/main" id="{58F886C7-EE32-4F96-BB15-1C813523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719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l-body-3">
            <a:extLst xmlns:a="http://schemas.openxmlformats.org/drawingml/2006/main">
              <a:ext uri="{FF2B5EF4-FFF2-40B4-BE49-F238E27FC236}">
                <a16:creationId xmlns:a16="http://schemas.microsoft.com/office/drawing/2014/main" id="{9F0447A3-8A6F-461B-ACF3-454C946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00500"/>
            <a:ext cx="2038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Store validated load-cell and flow factors in EEPROM.</a:t>
            </a:r>
          </a:p>
        </p:txBody>
      </p:sp>
      <p:sp>
        <p:nvSpPr>
          <p:cNvPr id="30" name="cal-bottom">
            <a:extLst xmlns:a="http://schemas.openxmlformats.org/drawingml/2006/main">
              <a:ext uri="{FF2B5EF4-FFF2-40B4-BE49-F238E27FC236}">
                <a16:creationId xmlns:a16="http://schemas.microsoft.com/office/drawing/2014/main" id="{DC93137B-FD78-4D26-B7BB-F7A6AB7B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81650"/>
            <a:ext cx="9429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l-bottom-text">
            <a:extLst xmlns:a="http://schemas.openxmlformats.org/drawingml/2006/main">
              <a:ext uri="{FF2B5EF4-FFF2-40B4-BE49-F238E27FC236}">
                <a16:creationId xmlns:a16="http://schemas.microsoft.com/office/drawing/2014/main" id="{CB922505-5BD4-4B75-A91D-7CBA9AE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435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TCRT5000 threshold is tuned for distance and lighting. If EEPROM is blank, dedicated constants provide safe defaults.</a:t>
            </a:r>
          </a:p>
        </p:txBody>
      </p:sp>
    </p:spTree>
    <p:extLst>
      <p:ext uri="{BB962C8B-B14F-4D97-AF65-F5344CB8AC3E}">
        <p14:creationId xmlns:p14="http://schemas.microsoft.com/office/powerpoint/2010/main" val="1719969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9">
            <a:extLst xmlns:a="http://schemas.openxmlformats.org/drawingml/2006/main">
              <a:ext uri="{FF2B5EF4-FFF2-40B4-BE49-F238E27FC236}">
                <a16:creationId xmlns:a16="http://schemas.microsoft.com/office/drawing/2014/main" id="{0CA2C346-4C24-4283-AFF5-F27017B0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F217E77-C733-47BB-B1DF-8D924F7D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Protected power separates sensors from actuators</a:t>
            </a:r>
          </a:p>
        </p:txBody>
      </p:sp>
      <p:sp>
        <p:nvSpPr>
          <p:cNvPr id="3" name="presenter-9">
            <a:extLst xmlns:a="http://schemas.openxmlformats.org/drawingml/2006/main">
              <a:ext uri="{FF2B5EF4-FFF2-40B4-BE49-F238E27FC236}">
                <a16:creationId xmlns:a16="http://schemas.microsoft.com/office/drawing/2014/main" id="{FC1AE2F9-684A-4C94-B9FB-022D5942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9">
            <a:extLst xmlns:a="http://schemas.openxmlformats.org/drawingml/2006/main">
              <a:ext uri="{FF2B5EF4-FFF2-40B4-BE49-F238E27FC236}">
                <a16:creationId xmlns:a16="http://schemas.microsoft.com/office/drawing/2014/main" id="{C2A933CD-8FB1-4F1F-8D64-AB0A51CA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NASSIM  3/3</a:t>
            </a:r>
          </a:p>
        </p:txBody>
      </p:sp>
      <p:cxnSp>
        <p:nvCxnSpPr>
          <p:cNvPr id="30" name="header-line-9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0993782C-D2E5-42DF-B5E0-D90CC1D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09</a:t>
            </a:r>
          </a:p>
        </p:txBody>
      </p:sp>
      <p:sp>
        <p:nvSpPr>
          <p:cNvPr id="7" name="logic-rail">
            <a:extLst xmlns:a="http://schemas.openxmlformats.org/drawingml/2006/main">
              <a:ext uri="{FF2B5EF4-FFF2-40B4-BE49-F238E27FC236}">
                <a16:creationId xmlns:a16="http://schemas.microsoft.com/office/drawing/2014/main" id="{98EFAE88-09ED-47C2-8804-B6790E65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572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gic-rail-title">
            <a:extLst xmlns:a="http://schemas.openxmlformats.org/drawingml/2006/main">
              <a:ext uri="{FF2B5EF4-FFF2-40B4-BE49-F238E27FC236}">
                <a16:creationId xmlns:a16="http://schemas.microsoft.com/office/drawing/2014/main" id="{CB2434DE-7BE3-4928-B4A5-12487A83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 V LOGIC &amp; SENSORS</a:t>
            </a:r>
          </a:p>
        </p:txBody>
      </p:sp>
      <p:sp>
        <p:nvSpPr>
          <p:cNvPr id="9" name="logic-items">
            <a:extLst xmlns:a="http://schemas.openxmlformats.org/drawingml/2006/main">
              <a:ext uri="{FF2B5EF4-FFF2-40B4-BE49-F238E27FC236}">
                <a16:creationId xmlns:a16="http://schemas.microsoft.com/office/drawing/2014/main" id="{FD16F539-B12C-4782-8096-9074AE03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Arduino Uno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TCRT5000 + HX711 load cell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DHT11 + flow-sensor signal</a:t>
            </a:r>
          </a:p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Keypad, DFPlayer, status LED</a:t>
            </a:r>
          </a:p>
        </p:txBody>
      </p:sp>
      <p:sp>
        <p:nvSpPr>
          <p:cNvPr id="10" name="relay-gate">
            <a:extLst xmlns:a="http://schemas.openxmlformats.org/drawingml/2006/main">
              <a:ext uri="{FF2B5EF4-FFF2-40B4-BE49-F238E27FC236}">
                <a16:creationId xmlns:a16="http://schemas.microsoft.com/office/drawing/2014/main" id="{F12AC69F-C6C0-44A2-B5C0-5315A0B4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43200"/>
            <a:ext cx="1428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lay-gate-text">
            <a:extLst xmlns:a="http://schemas.openxmlformats.org/drawingml/2006/main">
              <a:ext uri="{FF2B5EF4-FFF2-40B4-BE49-F238E27FC236}">
                <a16:creationId xmlns:a16="http://schemas.microsoft.com/office/drawing/2014/main" id="{98904FB6-AC76-4B5E-9578-4AF8147D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9562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RELAYS</a:t>
            </a:r>
          </a:p>
        </p:txBody>
      </p:sp>
      <p:sp>
        <p:nvSpPr>
          <p:cNvPr id="12" name="arrow-right">
            <a:extLst xmlns:a="http://schemas.openxmlformats.org/drawingml/2006/main">
              <a:ext uri="{FF2B5EF4-FFF2-40B4-BE49-F238E27FC236}">
                <a16:creationId xmlns:a16="http://schemas.microsoft.com/office/drawing/2014/main" id="{C1A54AB6-2643-4AA1-A896-72164012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908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power-rail">
            <a:extLst xmlns:a="http://schemas.openxmlformats.org/drawingml/2006/main">
              <a:ext uri="{FF2B5EF4-FFF2-40B4-BE49-F238E27FC236}">
                <a16:creationId xmlns:a16="http://schemas.microsoft.com/office/drawing/2014/main" id="{54F31966-1961-4F03-BDB4-728540CB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55626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ower-title">
            <a:extLst xmlns:a="http://schemas.openxmlformats.org/drawingml/2006/main">
              <a:ext uri="{FF2B5EF4-FFF2-40B4-BE49-F238E27FC236}">
                <a16:creationId xmlns:a16="http://schemas.microsoft.com/office/drawing/2014/main" id="{E54F2B36-3516-4ED8-B524-EA5AFCAC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≤ 12 V DC ACTUATORS</a:t>
            </a:r>
          </a:p>
        </p:txBody>
      </p:sp>
      <p:sp>
        <p:nvSpPr>
          <p:cNvPr id="15" name="power-items">
            <a:extLst xmlns:a="http://schemas.openxmlformats.org/drawingml/2006/main">
              <a:ext uri="{FF2B5EF4-FFF2-40B4-BE49-F238E27FC236}">
                <a16:creationId xmlns:a16="http://schemas.microsoft.com/office/drawing/2014/main" id="{3DFA17CE-7FC5-4F0B-B6B3-4561E7CF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Pump • humidifier • fan • servo</a:t>
            </a:r>
          </a:p>
        </p:txBody>
      </p:sp>
      <p:sp>
        <p:nvSpPr>
          <p:cNvPr id="16" name="safety-1-dot">
            <a:extLst xmlns:a="http://schemas.openxmlformats.org/drawingml/2006/main">
              <a:ext uri="{FF2B5EF4-FFF2-40B4-BE49-F238E27FC236}">
                <a16:creationId xmlns:a16="http://schemas.microsoft.com/office/drawing/2014/main" id="{8BC4667A-3B7B-42FE-A52B-64E5A935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afety-1-text">
            <a:extLst xmlns:a="http://schemas.openxmlformats.org/drawingml/2006/main">
              <a:ext uri="{FF2B5EF4-FFF2-40B4-BE49-F238E27FC236}">
                <a16:creationId xmlns:a16="http://schemas.microsoft.com/office/drawing/2014/main" id="{07BD95DA-5D8B-44FC-B5D5-7CD223A2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861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 direct mains connection</a:t>
            </a:r>
          </a:p>
        </p:txBody>
      </p:sp>
      <p:sp>
        <p:nvSpPr>
          <p:cNvPr id="18" name="safety-2-dot">
            <a:extLst xmlns:a="http://schemas.openxmlformats.org/drawingml/2006/main">
              <a:ext uri="{FF2B5EF4-FFF2-40B4-BE49-F238E27FC236}">
                <a16:creationId xmlns:a16="http://schemas.microsoft.com/office/drawing/2014/main" id="{51DD3445-735F-4D0A-8D08-E5C6C6C1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afety-2-text">
            <a:extLst xmlns:a="http://schemas.openxmlformats.org/drawingml/2006/main">
              <a:ext uri="{FF2B5EF4-FFF2-40B4-BE49-F238E27FC236}">
                <a16:creationId xmlns:a16="http://schemas.microsoft.com/office/drawing/2014/main" id="{C7C87E67-B9FB-4363-999F-2028D83B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Fuse / diode / relay protection</a:t>
            </a:r>
          </a:p>
        </p:txBody>
      </p:sp>
      <p:sp>
        <p:nvSpPr>
          <p:cNvPr id="20" name="safety-3-dot">
            <a:extLst xmlns:a="http://schemas.openxmlformats.org/drawingml/2006/main">
              <a:ext uri="{FF2B5EF4-FFF2-40B4-BE49-F238E27FC236}">
                <a16:creationId xmlns:a16="http://schemas.microsoft.com/office/drawing/2014/main" id="{B3E3688B-A011-4CE1-BD0D-AF5E33DF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afety-3-text">
            <a:extLst xmlns:a="http://schemas.openxmlformats.org/drawingml/2006/main">
              <a:ext uri="{FF2B5EF4-FFF2-40B4-BE49-F238E27FC236}">
                <a16:creationId xmlns:a16="http://schemas.microsoft.com/office/drawing/2014/main" id="{7CFC0AA5-A8E4-42A3-9BC6-2BE12B17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Regulated supplies and common ground</a:t>
            </a:r>
          </a:p>
        </p:txBody>
      </p:sp>
      <p:sp>
        <p:nvSpPr>
          <p:cNvPr id="22" name="safety-4-dot">
            <a:extLst xmlns:a="http://schemas.openxmlformats.org/drawingml/2006/main">
              <a:ext uri="{FF2B5EF4-FFF2-40B4-BE49-F238E27FC236}">
                <a16:creationId xmlns:a16="http://schemas.microsoft.com/office/drawing/2014/main" id="{CD6236F4-5F17-45CE-B3D4-811D4AD0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afety-4-text">
            <a:extLst xmlns:a="http://schemas.openxmlformats.org/drawingml/2006/main">
              <a:ext uri="{FF2B5EF4-FFF2-40B4-BE49-F238E27FC236}">
                <a16:creationId xmlns:a16="http://schemas.microsoft.com/office/drawing/2014/main" id="{88D5A8D0-AEF8-4F14-88BB-2E4003A8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434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Pin-to-pin wiring documented in Fritzing</a:t>
            </a:r>
          </a:p>
        </p:txBody>
      </p:sp>
      <p:sp>
        <p:nvSpPr>
          <p:cNvPr id="24" name="wiring-correction">
            <a:extLst xmlns:a="http://schemas.openxmlformats.org/drawingml/2006/main">
              <a:ext uri="{FF2B5EF4-FFF2-40B4-BE49-F238E27FC236}">
                <a16:creationId xmlns:a16="http://schemas.microsoft.com/office/drawing/2014/main" id="{F76BFC74-AE52-45B3-BF7C-A68DACD1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10001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iring-correction-text">
            <a:extLst xmlns:a="http://schemas.openxmlformats.org/drawingml/2006/main">
              <a:ext uri="{FF2B5EF4-FFF2-40B4-BE49-F238E27FC236}">
                <a16:creationId xmlns:a16="http://schemas.microsoft.com/office/drawing/2014/main" id="{52C36D0B-B790-42C3-9C3E-726CFAB2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57875"/>
            <a:ext cx="950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 the final Fritzing schematic, the load cell is grouped with entry sensing—not with fire protection.</a:t>
            </a:r>
          </a:p>
        </p:txBody>
      </p:sp>
    </p:spTree>
    <p:extLst>
      <p:ext uri="{BB962C8B-B14F-4D97-AF65-F5344CB8AC3E}">
        <p14:creationId xmlns:p14="http://schemas.microsoft.com/office/powerpoint/2010/main" val="151588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0">
            <a:extLst xmlns:a="http://schemas.openxmlformats.org/drawingml/2006/main">
              <a:ext uri="{FF2B5EF4-FFF2-40B4-BE49-F238E27FC236}">
                <a16:creationId xmlns:a16="http://schemas.microsoft.com/office/drawing/2014/main" id="{56D9588A-AE74-42AF-935D-A2FEBEA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F3D8CAAB-BC2C-4BA8-99B3-81C1D300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Fail-safe states and modular code improve reliability</a:t>
            </a:r>
          </a:p>
        </p:txBody>
      </p:sp>
      <p:sp>
        <p:nvSpPr>
          <p:cNvPr id="3" name="presenter-10">
            <a:extLst xmlns:a="http://schemas.openxmlformats.org/drawingml/2006/main">
              <a:ext uri="{FF2B5EF4-FFF2-40B4-BE49-F238E27FC236}">
                <a16:creationId xmlns:a16="http://schemas.microsoft.com/office/drawing/2014/main" id="{628214F0-02C7-46F8-881B-C90B2F67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10">
            <a:extLst xmlns:a="http://schemas.openxmlformats.org/drawingml/2006/main">
              <a:ext uri="{FF2B5EF4-FFF2-40B4-BE49-F238E27FC236}">
                <a16:creationId xmlns:a16="http://schemas.microsoft.com/office/drawing/2014/main" id="{D9EC4A21-3B77-4A5F-A3B6-B7E39049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MUSTAPHA  1/3</a:t>
            </a:r>
          </a:p>
        </p:txBody>
      </p:sp>
      <p:cxnSp>
        <p:nvCxnSpPr>
          <p:cNvPr id="28" name="header-line-10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10">
            <a:extLst xmlns:a="http://schemas.openxmlformats.org/drawingml/2006/main">
              <a:ext uri="{FF2B5EF4-FFF2-40B4-BE49-F238E27FC236}">
                <a16:creationId xmlns:a16="http://schemas.microsoft.com/office/drawing/2014/main" id="{7E5EEDF0-5317-4241-8A9D-6BAB78C6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10</a:t>
            </a:r>
          </a:p>
        </p:txBody>
      </p:sp>
      <p:sp>
        <p:nvSpPr>
          <p:cNvPr id="7" name="rel-band-0">
            <a:extLst xmlns:a="http://schemas.openxmlformats.org/drawingml/2006/main">
              <a:ext uri="{FF2B5EF4-FFF2-40B4-BE49-F238E27FC236}">
                <a16:creationId xmlns:a16="http://schemas.microsoft.com/office/drawing/2014/main" id="{6E498B6B-E11B-4EAA-BC51-0C9339ED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763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l-label-0">
            <a:extLst xmlns:a="http://schemas.openxmlformats.org/drawingml/2006/main">
              <a:ext uri="{FF2B5EF4-FFF2-40B4-BE49-F238E27FC236}">
                <a16:creationId xmlns:a16="http://schemas.microsoft.com/office/drawing/2014/main" id="{42E59381-CA72-4122-978B-88944863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l-label-text-0">
            <a:extLst xmlns:a="http://schemas.openxmlformats.org/drawingml/2006/main">
              <a:ext uri="{FF2B5EF4-FFF2-40B4-BE49-F238E27FC236}">
                <a16:creationId xmlns:a16="http://schemas.microsoft.com/office/drawing/2014/main" id="{EC495280-9639-4221-87D2-7664DA0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FAIL-SAFE</a:t>
            </a:r>
          </a:p>
        </p:txBody>
      </p:sp>
      <p:sp>
        <p:nvSpPr>
          <p:cNvPr id="10" name="rel-copy-0">
            <a:extLst xmlns:a="http://schemas.openxmlformats.org/drawingml/2006/main">
              <a:ext uri="{FF2B5EF4-FFF2-40B4-BE49-F238E27FC236}">
                <a16:creationId xmlns:a16="http://schemas.microsoft.com/office/drawing/2014/main" id="{3C9CB0AC-6766-40BE-A295-A33085E3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DHT failure skips the cycle; relays initialize OFF.</a:t>
            </a:r>
          </a:p>
        </p:txBody>
      </p:sp>
      <p:sp>
        <p:nvSpPr>
          <p:cNvPr id="11" name="rel-band-1">
            <a:extLst xmlns:a="http://schemas.openxmlformats.org/drawingml/2006/main">
              <a:ext uri="{FF2B5EF4-FFF2-40B4-BE49-F238E27FC236}">
                <a16:creationId xmlns:a16="http://schemas.microsoft.com/office/drawing/2014/main" id="{C0857D88-0936-4B91-A486-F6ABEEFF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763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l-label-1">
            <a:extLst xmlns:a="http://schemas.openxmlformats.org/drawingml/2006/main">
              <a:ext uri="{FF2B5EF4-FFF2-40B4-BE49-F238E27FC236}">
                <a16:creationId xmlns:a16="http://schemas.microsoft.com/office/drawing/2014/main" id="{C6548EA1-90F9-4522-8487-DA60356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l-label-text-1">
            <a:extLst xmlns:a="http://schemas.openxmlformats.org/drawingml/2006/main">
              <a:ext uri="{FF2B5EF4-FFF2-40B4-BE49-F238E27FC236}">
                <a16:creationId xmlns:a16="http://schemas.microsoft.com/office/drawing/2014/main" id="{EDE879B8-D633-4269-98F1-975E60E9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ROBUST</a:t>
            </a:r>
          </a:p>
        </p:txBody>
      </p:sp>
      <p:sp>
        <p:nvSpPr>
          <p:cNvPr id="14" name="rel-copy-1">
            <a:extLst xmlns:a="http://schemas.openxmlformats.org/drawingml/2006/main">
              <a:ext uri="{FF2B5EF4-FFF2-40B4-BE49-F238E27FC236}">
                <a16:creationId xmlns:a16="http://schemas.microsoft.com/office/drawing/2014/main" id="{2EB39883-535B-4BCD-B106-8E8E2BAF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BLOCKED is latched; flow is checked while pumping.</a:t>
            </a:r>
          </a:p>
        </p:txBody>
      </p:sp>
      <p:sp>
        <p:nvSpPr>
          <p:cNvPr id="15" name="rel-band-2">
            <a:extLst xmlns:a="http://schemas.openxmlformats.org/drawingml/2006/main">
              <a:ext uri="{FF2B5EF4-FFF2-40B4-BE49-F238E27FC236}">
                <a16:creationId xmlns:a16="http://schemas.microsoft.com/office/drawing/2014/main" id="{66372F1A-5809-4AF9-B083-15574EE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763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l-label-2">
            <a:extLst xmlns:a="http://schemas.openxmlformats.org/drawingml/2006/main">
              <a:ext uri="{FF2B5EF4-FFF2-40B4-BE49-F238E27FC236}">
                <a16:creationId xmlns:a16="http://schemas.microsoft.com/office/drawing/2014/main" id="{A3617EF2-277D-40CB-8DB0-FADB7D1B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l-label-text-2">
            <a:extLst xmlns:a="http://schemas.openxmlformats.org/drawingml/2006/main">
              <a:ext uri="{FF2B5EF4-FFF2-40B4-BE49-F238E27FC236}">
                <a16:creationId xmlns:a16="http://schemas.microsoft.com/office/drawing/2014/main" id="{1D5BB084-74FA-444B-AC55-ADCE9188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MAINTAINABLE</a:t>
            </a:r>
          </a:p>
        </p:txBody>
      </p:sp>
      <p:sp>
        <p:nvSpPr>
          <p:cNvPr id="18" name="rel-copy-2">
            <a:extLst xmlns:a="http://schemas.openxmlformats.org/drawingml/2006/main">
              <a:ext uri="{FF2B5EF4-FFF2-40B4-BE49-F238E27FC236}">
                <a16:creationId xmlns:a16="http://schemas.microsoft.com/office/drawing/2014/main" id="{0FA66AB4-E253-4D4C-81B3-6C755943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1955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Separate .ino modules, named thresholds, EEPROM calibration.</a:t>
            </a:r>
          </a:p>
        </p:txBody>
      </p:sp>
      <p:sp>
        <p:nvSpPr>
          <p:cNvPr id="19" name="rel-band-3">
            <a:extLst xmlns:a="http://schemas.openxmlformats.org/drawingml/2006/main">
              <a:ext uri="{FF2B5EF4-FFF2-40B4-BE49-F238E27FC236}">
                <a16:creationId xmlns:a16="http://schemas.microsoft.com/office/drawing/2014/main" id="{7BD7508F-D055-4C73-9690-EA6ED97D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763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l-label-3">
            <a:extLst xmlns:a="http://schemas.openxmlformats.org/drawingml/2006/main">
              <a:ext uri="{FF2B5EF4-FFF2-40B4-BE49-F238E27FC236}">
                <a16:creationId xmlns:a16="http://schemas.microsoft.com/office/drawing/2014/main" id="{6F67107A-D010-44B0-9830-1F84C61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23812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l-label-text-3">
            <a:extLst xmlns:a="http://schemas.openxmlformats.org/drawingml/2006/main">
              <a:ext uri="{FF2B5EF4-FFF2-40B4-BE49-F238E27FC236}">
                <a16:creationId xmlns:a16="http://schemas.microsoft.com/office/drawing/2014/main" id="{BD91ABE7-6965-4A75-8B40-CD665AD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POWER-AWARE</a:t>
            </a:r>
          </a:p>
        </p:txBody>
      </p:sp>
      <p:sp>
        <p:nvSpPr>
          <p:cNvPr id="22" name="rel-copy-3">
            <a:extLst xmlns:a="http://schemas.openxmlformats.org/drawingml/2006/main">
              <a:ext uri="{FF2B5EF4-FFF2-40B4-BE49-F238E27FC236}">
                <a16:creationId xmlns:a16="http://schemas.microsoft.com/office/drawing/2014/main" id="{EFB7A374-45D9-423C-B5A6-971F476D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24450"/>
            <a:ext cx="766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Pump, humidifier, fan, servo and buzzer run only when needed.</a:t>
            </a:r>
          </a:p>
        </p:txBody>
      </p:sp>
      <p:sp>
        <p:nvSpPr>
          <p:cNvPr id="23" name="rel-note">
            <a:extLst xmlns:a="http://schemas.openxmlformats.org/drawingml/2006/main">
              <a:ext uri="{FF2B5EF4-FFF2-40B4-BE49-F238E27FC236}">
                <a16:creationId xmlns:a16="http://schemas.microsoft.com/office/drawing/2014/main" id="{220ADCF8-50A7-4E58-8A6D-1A80A98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Non-blocking timers keep monitoring active while alarms and actuators are operating.</a:t>
            </a:r>
          </a:p>
        </p:txBody>
      </p:sp>
    </p:spTree>
    <p:extLst>
      <p:ext uri="{BB962C8B-B14F-4D97-AF65-F5344CB8AC3E}">
        <p14:creationId xmlns:p14="http://schemas.microsoft.com/office/powerpoint/2010/main" val="19350037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1">
            <a:extLst xmlns:a="http://schemas.openxmlformats.org/drawingml/2006/main">
              <a:ext uri="{FF2B5EF4-FFF2-40B4-BE49-F238E27FC236}">
                <a16:creationId xmlns:a16="http://schemas.microsoft.com/office/drawing/2014/main" id="{3CC2EE43-9EC2-4B6A-86AB-ED2AA0DF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442D7A2-62C3-41A6-9F8C-9112B2D3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Low-cost modules keep the prototype affordable</a:t>
            </a:r>
          </a:p>
        </p:txBody>
      </p:sp>
      <p:sp>
        <p:nvSpPr>
          <p:cNvPr id="3" name="presenter-11">
            <a:extLst xmlns:a="http://schemas.openxmlformats.org/drawingml/2006/main">
              <a:ext uri="{FF2B5EF4-FFF2-40B4-BE49-F238E27FC236}">
                <a16:creationId xmlns:a16="http://schemas.microsoft.com/office/drawing/2014/main" id="{4BB84BBE-7569-4DD2-8F0A-66B6230C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11">
            <a:extLst xmlns:a="http://schemas.openxmlformats.org/drawingml/2006/main">
              <a:ext uri="{FF2B5EF4-FFF2-40B4-BE49-F238E27FC236}">
                <a16:creationId xmlns:a16="http://schemas.microsoft.com/office/drawing/2014/main" id="{3A0BBE44-3BEB-4A12-958C-79B73F3F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MUSTAPHA  2/3</a:t>
            </a:r>
          </a:p>
        </p:txBody>
      </p:sp>
      <p:cxnSp>
        <p:nvCxnSpPr>
          <p:cNvPr id="35" name="header-line-11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11">
            <a:extLst xmlns:a="http://schemas.openxmlformats.org/drawingml/2006/main">
              <a:ext uri="{FF2B5EF4-FFF2-40B4-BE49-F238E27FC236}">
                <a16:creationId xmlns:a16="http://schemas.microsoft.com/office/drawing/2014/main" id="{FB890F10-7F08-4EE2-9B62-838BE26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11</a:t>
            </a:r>
          </a:p>
        </p:txBody>
      </p:sp>
      <p:sp>
        <p:nvSpPr>
          <p:cNvPr id="7" name="cost-side">
            <a:extLst xmlns:a="http://schemas.openxmlformats.org/drawingml/2006/main">
              <a:ext uri="{FF2B5EF4-FFF2-40B4-BE49-F238E27FC236}">
                <a16:creationId xmlns:a16="http://schemas.microsoft.com/office/drawing/2014/main" id="{FCF80B11-4712-4FBE-B4CD-00F596D4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953000" cy="4238625"/>
          </a:xfrm>
          <a:prstGeom xmlns:a="http://schemas.openxmlformats.org/drawingml/2006/main" prst="roundRect">
            <a:avLst>
              <a:gd name="adj" fmla="val 269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st-head">
            <a:extLst xmlns:a="http://schemas.openxmlformats.org/drawingml/2006/main">
              <a:ext uri="{FF2B5EF4-FFF2-40B4-BE49-F238E27FC236}">
                <a16:creationId xmlns:a16="http://schemas.microsoft.com/office/drawing/2014/main" id="{6EAC8795-AF49-4EEE-B591-4E808F76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COST CONSIDERATIONS</a:t>
            </a:r>
          </a:p>
        </p:txBody>
      </p:sp>
      <p:sp>
        <p:nvSpPr>
          <p:cNvPr id="9" name="cost-1-dot">
            <a:extLst xmlns:a="http://schemas.openxmlformats.org/drawingml/2006/main">
              <a:ext uri="{FF2B5EF4-FFF2-40B4-BE49-F238E27FC236}">
                <a16:creationId xmlns:a16="http://schemas.microsoft.com/office/drawing/2014/main" id="{2FA82832-F3F5-4931-9D3C-BB9A4412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st-1-text">
            <a:extLst xmlns:a="http://schemas.openxmlformats.org/drawingml/2006/main">
              <a:ext uri="{FF2B5EF4-FFF2-40B4-BE49-F238E27FC236}">
                <a16:creationId xmlns:a16="http://schemas.microsoft.com/office/drawing/2014/main" id="{7DCCA0DD-057B-4FE2-A700-A21670EA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Arduino-class controller and common sensors</a:t>
            </a:r>
          </a:p>
        </p:txBody>
      </p:sp>
      <p:sp>
        <p:nvSpPr>
          <p:cNvPr id="11" name="cost-2-dot">
            <a:extLst xmlns:a="http://schemas.openxmlformats.org/drawingml/2006/main">
              <a:ext uri="{FF2B5EF4-FFF2-40B4-BE49-F238E27FC236}">
                <a16:creationId xmlns:a16="http://schemas.microsoft.com/office/drawing/2014/main" id="{BAF74B1A-4598-4984-A7E8-072C46D6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st-2-text">
            <a:extLst xmlns:a="http://schemas.openxmlformats.org/drawingml/2006/main">
              <a:ext uri="{FF2B5EF4-FFF2-40B4-BE49-F238E27FC236}">
                <a16:creationId xmlns:a16="http://schemas.microsoft.com/office/drawing/2014/main" id="{4E43E85F-D995-44DA-B2FA-139B7894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Replaceable modular components</a:t>
            </a:r>
          </a:p>
        </p:txBody>
      </p:sp>
      <p:sp>
        <p:nvSpPr>
          <p:cNvPr id="13" name="cost-3-dot">
            <a:extLst xmlns:a="http://schemas.openxmlformats.org/drawingml/2006/main">
              <a:ext uri="{FF2B5EF4-FFF2-40B4-BE49-F238E27FC236}">
                <a16:creationId xmlns:a16="http://schemas.microsoft.com/office/drawing/2014/main" id="{39377A68-DD1F-488A-8816-CD8FC5E0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st-3-text">
            <a:extLst xmlns:a="http://schemas.openxmlformats.org/drawingml/2006/main">
              <a:ext uri="{FF2B5EF4-FFF2-40B4-BE49-F238E27FC236}">
                <a16:creationId xmlns:a16="http://schemas.microsoft.com/office/drawing/2014/main" id="{0B1B1014-AEBC-4BBD-AACB-0AD06F1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Protection and calibration receive priority</a:t>
            </a:r>
          </a:p>
        </p:txBody>
      </p:sp>
      <p:sp>
        <p:nvSpPr>
          <p:cNvPr id="15" name="cost-4-dot">
            <a:extLst xmlns:a="http://schemas.openxmlformats.org/drawingml/2006/main">
              <a:ext uri="{FF2B5EF4-FFF2-40B4-BE49-F238E27FC236}">
                <a16:creationId xmlns:a16="http://schemas.microsoft.com/office/drawing/2014/main" id="{66765B60-9B54-40BE-B03F-C09E53FD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st-4-text">
            <a:extLst xmlns:a="http://schemas.openxmlformats.org/drawingml/2006/main">
              <a:ext uri="{FF2B5EF4-FFF2-40B4-BE49-F238E27FC236}">
                <a16:creationId xmlns:a16="http://schemas.microsoft.com/office/drawing/2014/main" id="{C5523A1A-08FB-48BE-B090-3E6F4F10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No expensive cloud service is required</a:t>
            </a:r>
          </a:p>
        </p:txBody>
      </p:sp>
      <p:sp>
        <p:nvSpPr>
          <p:cNvPr id="17" name="cost-trade">
            <a:extLst xmlns:a="http://schemas.openxmlformats.org/drawingml/2006/main">
              <a:ext uri="{FF2B5EF4-FFF2-40B4-BE49-F238E27FC236}">
                <a16:creationId xmlns:a16="http://schemas.microsoft.com/office/drawing/2014/main" id="{B2CC2252-83A6-412D-837F-5BD5C97B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Trade-off: DHT11 and hobby modules reduce cost, but industrial deployment needs higher-grade sensors.</a:t>
            </a:r>
          </a:p>
        </p:txBody>
      </p:sp>
      <p:sp>
        <p:nvSpPr>
          <p:cNvPr id="18" name="scale-head">
            <a:extLst xmlns:a="http://schemas.openxmlformats.org/drawingml/2006/main">
              <a:ext uri="{FF2B5EF4-FFF2-40B4-BE49-F238E27FC236}">
                <a16:creationId xmlns:a16="http://schemas.microsoft.com/office/drawing/2014/main" id="{4B07C9A4-9BA9-4259-84A1-D84A6EF6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SCALABILITY ROADMAP</a:t>
            </a:r>
          </a:p>
        </p:txBody>
      </p:sp>
      <p:sp>
        <p:nvSpPr>
          <p:cNvPr id="19" name="future-0">
            <a:extLst xmlns:a="http://schemas.openxmlformats.org/drawingml/2006/main">
              <a:ext uri="{FF2B5EF4-FFF2-40B4-BE49-F238E27FC236}">
                <a16:creationId xmlns:a16="http://schemas.microsoft.com/office/drawing/2014/main" id="{E44922A2-5884-491A-9E95-F78992E5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4667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uture-label-0">
            <a:extLst xmlns:a="http://schemas.openxmlformats.org/drawingml/2006/main">
              <a:ext uri="{FF2B5EF4-FFF2-40B4-BE49-F238E27FC236}">
                <a16:creationId xmlns:a16="http://schemas.microsoft.com/office/drawing/2014/main" id="{51785FFB-61B3-4D75-B567-9AEA6392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21" name="future-copy-0">
            <a:extLst xmlns:a="http://schemas.openxmlformats.org/drawingml/2006/main">
              <a:ext uri="{FF2B5EF4-FFF2-40B4-BE49-F238E27FC236}">
                <a16:creationId xmlns:a16="http://schemas.microsoft.com/office/drawing/2014/main" id="{021FC4AD-60F5-4D9A-B43B-16086D91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62225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Dual entry + fire response</a:t>
            </a:r>
          </a:p>
        </p:txBody>
      </p:sp>
      <p:sp>
        <p:nvSpPr>
          <p:cNvPr id="22" name="future-1">
            <a:extLst xmlns:a="http://schemas.openxmlformats.org/drawingml/2006/main">
              <a:ext uri="{FF2B5EF4-FFF2-40B4-BE49-F238E27FC236}">
                <a16:creationId xmlns:a16="http://schemas.microsoft.com/office/drawing/2014/main" id="{647755A5-2AC3-4D13-92FA-2384E270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152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uture-label-1">
            <a:extLst xmlns:a="http://schemas.openxmlformats.org/drawingml/2006/main">
              <a:ext uri="{FF2B5EF4-FFF2-40B4-BE49-F238E27FC236}">
                <a16:creationId xmlns:a16="http://schemas.microsoft.com/office/drawing/2014/main" id="{5B65B362-F3A4-4A05-B4AA-25A64D0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909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4" name="future-copy-1">
            <a:extLst xmlns:a="http://schemas.openxmlformats.org/drawingml/2006/main">
              <a:ext uri="{FF2B5EF4-FFF2-40B4-BE49-F238E27FC236}">
                <a16:creationId xmlns:a16="http://schemas.microsoft.com/office/drawing/2014/main" id="{4471AD08-3B19-4B54-B201-DF16F261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623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Smoke / gas sensing + SD log</a:t>
            </a:r>
          </a:p>
        </p:txBody>
      </p:sp>
      <p:sp>
        <p:nvSpPr>
          <p:cNvPr id="25" name="future-2">
            <a:extLst xmlns:a="http://schemas.openxmlformats.org/drawingml/2006/main">
              <a:ext uri="{FF2B5EF4-FFF2-40B4-BE49-F238E27FC236}">
                <a16:creationId xmlns:a16="http://schemas.microsoft.com/office/drawing/2014/main" id="{14BD7F50-0CA1-411A-B51D-0B304982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36385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uture-label-2">
            <a:extLst xmlns:a="http://schemas.openxmlformats.org/drawingml/2006/main">
              <a:ext uri="{FF2B5EF4-FFF2-40B4-BE49-F238E27FC236}">
                <a16:creationId xmlns:a16="http://schemas.microsoft.com/office/drawing/2014/main" id="{607561AC-9B3E-453B-B5A7-CC9296F1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7" name="future-copy-2">
            <a:extLst xmlns:a="http://schemas.openxmlformats.org/drawingml/2006/main">
              <a:ext uri="{FF2B5EF4-FFF2-40B4-BE49-F238E27FC236}">
                <a16:creationId xmlns:a16="http://schemas.microsoft.com/office/drawing/2014/main" id="{A9602331-B682-416B-927D-4BD07952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62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RTC, remote alerts, redundancy</a:t>
            </a:r>
          </a:p>
        </p:txBody>
      </p:sp>
      <p:sp>
        <p:nvSpPr>
          <p:cNvPr id="28" name="future-3">
            <a:extLst xmlns:a="http://schemas.openxmlformats.org/drawingml/2006/main">
              <a:ext uri="{FF2B5EF4-FFF2-40B4-BE49-F238E27FC236}">
                <a16:creationId xmlns:a16="http://schemas.microsoft.com/office/drawing/2014/main" id="{DFA01354-1CB1-4057-A823-58BB7921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00600"/>
            <a:ext cx="3124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uture-label-3">
            <a:extLst xmlns:a="http://schemas.openxmlformats.org/drawingml/2006/main">
              <a:ext uri="{FF2B5EF4-FFF2-40B4-BE49-F238E27FC236}">
                <a16:creationId xmlns:a16="http://schemas.microsoft.com/office/drawing/2014/main" id="{5D68C260-58BA-4874-AA94-F232716B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30" name="future-copy-3">
            <a:extLst xmlns:a="http://schemas.openxmlformats.org/drawingml/2006/main">
              <a:ext uri="{FF2B5EF4-FFF2-40B4-BE49-F238E27FC236}">
                <a16:creationId xmlns:a16="http://schemas.microsoft.com/office/drawing/2014/main" id="{7EF6C5F6-6AAF-4D37-8751-4BA6B74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625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Industrial sensors and enclosure</a:t>
            </a:r>
          </a:p>
        </p:txBody>
      </p:sp>
    </p:spTree>
    <p:extLst>
      <p:ext uri="{BB962C8B-B14F-4D97-AF65-F5344CB8AC3E}">
        <p14:creationId xmlns:p14="http://schemas.microsoft.com/office/powerpoint/2010/main" val="1633809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2">
            <a:extLst xmlns:a="http://schemas.openxmlformats.org/drawingml/2006/main">
              <a:ext uri="{FF2B5EF4-FFF2-40B4-BE49-F238E27FC236}">
                <a16:creationId xmlns:a16="http://schemas.microsoft.com/office/drawing/2014/main" id="{61967B9B-B112-4764-BB9E-FD3AC8A6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4B671F00-C727-48ED-9078-2DAD8B9E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Lecture concepts become a measurable safety workflow</a:t>
            </a:r>
          </a:p>
        </p:txBody>
      </p:sp>
      <p:sp>
        <p:nvSpPr>
          <p:cNvPr id="3" name="presenter-12">
            <a:extLst xmlns:a="http://schemas.openxmlformats.org/drawingml/2006/main">
              <a:ext uri="{FF2B5EF4-FFF2-40B4-BE49-F238E27FC236}">
                <a16:creationId xmlns:a16="http://schemas.microsoft.com/office/drawing/2014/main" id="{C075979C-3E0E-450E-8ECC-FEF84401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"/>
            <a:ext cx="15621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senter-label-12">
            <a:extLst xmlns:a="http://schemas.openxmlformats.org/drawingml/2006/main">
              <a:ext uri="{FF2B5EF4-FFF2-40B4-BE49-F238E27FC236}">
                <a16:creationId xmlns:a16="http://schemas.microsoft.com/office/drawing/2014/main" id="{06025DFE-D3FE-4511-AA10-4729AF56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MUSTAPHA  3/3</a:t>
            </a:r>
          </a:p>
        </p:txBody>
      </p:sp>
      <p:cxnSp>
        <p:nvCxnSpPr>
          <p:cNvPr id="34" name="header-line-12"/>
          <p:cNvCxnSpPr/>
          <p:nvPr/>
        </p:nvCxnSpPr>
        <p:spPr>
          <a:xfrm xmlns:a="http://schemas.openxmlformats.org/drawingml/2006/main">
            <a:off x="495300" y="106680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6" name="footer-12">
            <a:extLst xmlns:a="http://schemas.openxmlformats.org/drawingml/2006/main">
              <a:ext uri="{FF2B5EF4-FFF2-40B4-BE49-F238E27FC236}">
                <a16:creationId xmlns:a16="http://schemas.microsoft.com/office/drawing/2014/main" id="{82105BF2-D2C0-47E6-86E5-70377075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SMART LABORATORY SYSTEM  •  12</a:t>
            </a:r>
          </a:p>
        </p:txBody>
      </p:sp>
      <p:sp>
        <p:nvSpPr>
          <p:cNvPr id="7" name="concept-mark-0">
            <a:extLst xmlns:a="http://schemas.openxmlformats.org/drawingml/2006/main">
              <a:ext uri="{FF2B5EF4-FFF2-40B4-BE49-F238E27FC236}">
                <a16:creationId xmlns:a16="http://schemas.microsoft.com/office/drawing/2014/main" id="{4A1C5345-A82A-4CFF-BC57-DD9DA92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33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67A755B7-A2D2-499A-8C35-C45FC6A1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Signal conditioning</a:t>
            </a:r>
          </a:p>
        </p:txBody>
      </p:sp>
      <p:sp>
        <p:nvSpPr>
          <p:cNvPr id="9" name="concept-copy-0">
            <a:extLst xmlns:a="http://schemas.openxmlformats.org/drawingml/2006/main">
              <a:ext uri="{FF2B5EF4-FFF2-40B4-BE49-F238E27FC236}">
                <a16:creationId xmlns:a16="http://schemas.microsoft.com/office/drawing/2014/main" id="{AE5A3A49-E90E-4703-8CDD-9D97FB9A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Calibration, thresholds, error</a:t>
            </a:r>
          </a:p>
        </p:txBody>
      </p:sp>
      <p:sp>
        <p:nvSpPr>
          <p:cNvPr id="10" name="concept-mark-1">
            <a:extLst xmlns:a="http://schemas.openxmlformats.org/drawingml/2006/main">
              <a:ext uri="{FF2B5EF4-FFF2-40B4-BE49-F238E27FC236}">
                <a16:creationId xmlns:a16="http://schemas.microsoft.com/office/drawing/2014/main" id="{08ACA989-906E-4068-B31A-C96150A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33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BBCEC179-2074-4273-B474-1D2B2DF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9D9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9D92"/>
                </a:solidFill>
                <a:latin typeface="Aptos"/>
                <a:ea typeface="Aptos"/>
                <a:cs typeface="Aptos"/>
              </a:rPr>
              <a:t>Sensor fusion</a:t>
            </a:r>
          </a:p>
        </p:txBody>
      </p:sp>
      <p:sp>
        <p:nvSpPr>
          <p:cNvPr id="12" name="concept-copy-1">
            <a:extLst xmlns:a="http://schemas.openxmlformats.org/drawingml/2006/main">
              <a:ext uri="{FF2B5EF4-FFF2-40B4-BE49-F238E27FC236}">
                <a16:creationId xmlns:a16="http://schemas.microsoft.com/office/drawing/2014/main" id="{6FE949AC-27AF-4D98-8DCF-CDFF792A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146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IR AND weight confirmation</a:t>
            </a:r>
          </a:p>
        </p:txBody>
      </p:sp>
      <p:sp>
        <p:nvSpPr>
          <p:cNvPr id="13" name="concept-mark-2">
            <a:extLst xmlns:a="http://schemas.openxmlformats.org/drawingml/2006/main">
              <a:ext uri="{FF2B5EF4-FFF2-40B4-BE49-F238E27FC236}">
                <a16:creationId xmlns:a16="http://schemas.microsoft.com/office/drawing/2014/main" id="{97BAB5AF-0793-44D5-A5DD-3BEB138D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133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430F5B7E-D050-4A94-A0C6-8AFB0FBF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Embedded timing</a:t>
            </a:r>
          </a:p>
        </p:txBody>
      </p:sp>
      <p:sp>
        <p:nvSpPr>
          <p:cNvPr id="15" name="concept-copy-2">
            <a:extLst xmlns:a="http://schemas.openxmlformats.org/drawingml/2006/main">
              <a:ext uri="{FF2B5EF4-FFF2-40B4-BE49-F238E27FC236}">
                <a16:creationId xmlns:a16="http://schemas.microsoft.com/office/drawing/2014/main" id="{F1D4F69E-BB28-46FA-9708-1601042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528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Interrupts + non-blocking timers</a:t>
            </a:r>
          </a:p>
        </p:txBody>
      </p:sp>
      <p:sp>
        <p:nvSpPr>
          <p:cNvPr id="16" name="concept-mark-3">
            <a:extLst xmlns:a="http://schemas.openxmlformats.org/drawingml/2006/main">
              <a:ext uri="{FF2B5EF4-FFF2-40B4-BE49-F238E27FC236}">
                <a16:creationId xmlns:a16="http://schemas.microsoft.com/office/drawing/2014/main" id="{EAC93C1E-024E-4579-8285-77286FCE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133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26212436-113F-4EE4-9645-84D8BB7A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548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484D"/>
                </a:solidFill>
                <a:latin typeface="Aptos"/>
                <a:ea typeface="Aptos"/>
                <a:cs typeface="Aptos"/>
              </a:rPr>
              <a:t>Control logic</a:t>
            </a:r>
          </a:p>
        </p:txBody>
      </p:sp>
      <p:sp>
        <p:nvSpPr>
          <p:cNvPr id="18" name="concept-copy-3">
            <a:extLst xmlns:a="http://schemas.openxmlformats.org/drawingml/2006/main">
              <a:ext uri="{FF2B5EF4-FFF2-40B4-BE49-F238E27FC236}">
                <a16:creationId xmlns:a16="http://schemas.microsoft.com/office/drawing/2014/main" id="{069A4BDC-34D0-4278-99DD-91FD0831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State machine + automatic response</a:t>
            </a:r>
          </a:p>
        </p:txBody>
      </p:sp>
      <p:sp>
        <p:nvSpPr>
          <p:cNvPr id="19" name="concept-mark-4">
            <a:extLst xmlns:a="http://schemas.openxmlformats.org/drawingml/2006/main">
              <a:ext uri="{FF2B5EF4-FFF2-40B4-BE49-F238E27FC236}">
                <a16:creationId xmlns:a16="http://schemas.microsoft.com/office/drawing/2014/main" id="{958133F9-6844-4275-BD0E-F60D1383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133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29CD6E89-A64A-45C7-8EBA-361D24BF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Data acquisition</a:t>
            </a:r>
          </a:p>
        </p:txBody>
      </p:sp>
      <p:sp>
        <p:nvSpPr>
          <p:cNvPr id="21" name="concept-copy-4">
            <a:extLst xmlns:a="http://schemas.openxmlformats.org/drawingml/2006/main">
              <a:ext uri="{FF2B5EF4-FFF2-40B4-BE49-F238E27FC236}">
                <a16:creationId xmlns:a16="http://schemas.microsoft.com/office/drawing/2014/main" id="{3A3161CE-8AB0-4933-B36D-D9E3AFE8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292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Timestamped CSV + analysis</a:t>
            </a:r>
          </a:p>
        </p:txBody>
      </p:sp>
      <p:sp>
        <p:nvSpPr>
          <p:cNvPr id="22" name="demo-field">
            <a:extLst xmlns:a="http://schemas.openxmlformats.org/drawingml/2006/main">
              <a:ext uri="{FF2B5EF4-FFF2-40B4-BE49-F238E27FC236}">
                <a16:creationId xmlns:a16="http://schemas.microsoft.com/office/drawing/2014/main" id="{11034FEF-B27F-4C77-97B9-CDF4E388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04950"/>
            <a:ext cx="6429375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B13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emo-head">
            <a:extLst xmlns:a="http://schemas.openxmlformats.org/drawingml/2006/main">
              <a:ext uri="{FF2B5EF4-FFF2-40B4-BE49-F238E27FC236}">
                <a16:creationId xmlns:a16="http://schemas.microsoft.com/office/drawing/2014/main" id="{EBB7933B-6C8F-457B-AD05-72A45E8B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WHAT THE VIDEO DEMONSTRATES</a:t>
            </a:r>
          </a:p>
        </p:txBody>
      </p:sp>
      <p:sp>
        <p:nvSpPr>
          <p:cNvPr id="24" name="demo-time">
            <a:extLst xmlns:a="http://schemas.openxmlformats.org/drawingml/2006/main">
              <a:ext uri="{FF2B5EF4-FFF2-40B4-BE49-F238E27FC236}">
                <a16:creationId xmlns:a16="http://schemas.microsoft.com/office/drawing/2014/main" id="{D63583F0-F7C2-4164-949F-FD5888D2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574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60 s</a:t>
            </a:r>
          </a:p>
        </p:txBody>
      </p:sp>
      <p:sp>
        <p:nvSpPr>
          <p:cNvPr id="25" name="demo-time-copy">
            <a:extLst xmlns:a="http://schemas.openxmlformats.org/drawingml/2006/main">
              <a:ext uri="{FF2B5EF4-FFF2-40B4-BE49-F238E27FC236}">
                <a16:creationId xmlns:a16="http://schemas.microsoft.com/office/drawing/2014/main" id="{803D1A76-41DC-4CCF-8AD8-F59E0747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continuous simulation</a:t>
            </a:r>
          </a:p>
          <a:p xmlns:a="http://schemas.openxmlformats.org/drawingml/2006/main">
            <a:pPr algn="l">
              <a:defRPr sz="165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and timestamped logging</a:t>
            </a:r>
          </a:p>
        </p:txBody>
      </p:sp>
      <p:cxnSp>
        <p:nvCxnSpPr>
          <p:cNvPr id="55" name="demo-sep"/>
          <p:cNvCxnSpPr/>
          <p:nvPr/>
        </p:nvCxnSpPr>
        <p:spPr>
          <a:xfrm xmlns:a="http://schemas.openxmlformats.org/drawingml/2006/main">
            <a:off x="5381625" y="3429000"/>
            <a:ext cx="533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cxnSp>
      <p:sp>
        <p:nvSpPr>
          <p:cNvPr id="27" name="demo-actions">
            <a:extLst xmlns:a="http://schemas.openxmlformats.org/drawingml/2006/main">
              <a:ext uri="{FF2B5EF4-FFF2-40B4-BE49-F238E27FC236}">
                <a16:creationId xmlns:a16="http://schemas.microsoft.com/office/drawing/2014/main" id="{F7E6CFA2-B72A-4D6F-AB98-76E725D5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90950"/>
            <a:ext cx="5334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Dual-sensor entry  →  PIN response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Fire threshold  →  pump / flow / humidity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Serial Monitor  →  real-time CSV status</a:t>
            </a:r>
          </a:p>
        </p:txBody>
      </p:sp>
      <p:sp>
        <p:nvSpPr>
          <p:cNvPr id="28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DD88D2EB-AA3F-42C5-93D0-871FDCBE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1000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25841C2C-07A6-4632-AA09-58FC1B63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67400"/>
            <a:ext cx="939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Two sensors confirm entry. Independent fire logic acts automatically. Every step is observable.</a:t>
            </a:r>
          </a:p>
        </p:txBody>
      </p:sp>
    </p:spTree>
    <p:extLst>
      <p:ext uri="{BB962C8B-B14F-4D97-AF65-F5344CB8AC3E}">
        <p14:creationId xmlns:p14="http://schemas.microsoft.com/office/powerpoint/2010/main" val="1613408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2026-07-13T12:42:07.6710000Z</dcterms:created>
  <dcterms:modified xsi:type="dcterms:W3CDTF">2026-07-13T12:42:07.6710000Z</dcterms:modified>
</coreProperties>
</file>