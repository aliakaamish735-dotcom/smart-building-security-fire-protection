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2" r:id="rId3"/>
    <p:sldId id="257" r:id="rId4"/>
    <p:sldId id="258" r:id="rId5"/>
    <p:sldId id="263" r:id="rId6"/>
    <p:sldId id="264" r:id="rId7"/>
    <p:sldId id="265" r:id="rId8"/>
    <p:sldId id="266" r:id="rId9"/>
    <p:sldId id="260" r:id="rId10"/>
    <p:sldId id="267" r:id="rId11"/>
    <p:sldId id="268" r:id="rId12"/>
    <p:sldId id="261" r:id="rId13"/>
    <p:sldId id="269" r:id="rId14"/>
  </p:sldIdLst>
  <p:sldSz cx="18288000" cy="10287000"/>
  <p:notesSz cx="6858000" cy="9144000"/>
  <p:embeddedFontLst>
    <p:embeddedFont>
      <p:font typeface="IBM Plex Sans Thai" panose="020B0604020202020204" charset="-34"/>
      <p:regular r:id="rId15"/>
    </p:embeddedFont>
    <p:embeddedFont>
      <p:font typeface="IBM Plex Sans Thai Bold" panose="020B0604020202020204" charset="-34"/>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5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6E7E9"/>
        </a:solidFill>
        <a:effectLst/>
      </p:bgPr>
    </p:bg>
    <p:spTree>
      <p:nvGrpSpPr>
        <p:cNvPr id="1" name=""/>
        <p:cNvGrpSpPr/>
        <p:nvPr/>
      </p:nvGrpSpPr>
      <p:grpSpPr>
        <a:xfrm>
          <a:off x="0" y="0"/>
          <a:ext cx="0" cy="0"/>
          <a:chOff x="0" y="0"/>
          <a:chExt cx="0" cy="0"/>
        </a:xfrm>
      </p:grpSpPr>
      <p:grpSp>
        <p:nvGrpSpPr>
          <p:cNvPr id="2" name="Group 2"/>
          <p:cNvGrpSpPr/>
          <p:nvPr/>
        </p:nvGrpSpPr>
        <p:grpSpPr>
          <a:xfrm>
            <a:off x="11029950" y="9528897"/>
            <a:ext cx="14100464" cy="2314575"/>
            <a:chOff x="0" y="0"/>
            <a:chExt cx="3713702" cy="609600"/>
          </a:xfrm>
        </p:grpSpPr>
        <p:sp>
          <p:nvSpPr>
            <p:cNvPr id="3" name="Freeform 3"/>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4" name="TextBox 4"/>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438168" y="7214322"/>
            <a:ext cx="14100464" cy="2314575"/>
            <a:chOff x="0" y="0"/>
            <a:chExt cx="3713702" cy="609600"/>
          </a:xfrm>
        </p:grpSpPr>
        <p:sp>
          <p:nvSpPr>
            <p:cNvPr id="6" name="Freeform 6"/>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7" name="TextBox 7"/>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1019559" y="814387"/>
            <a:ext cx="14100464" cy="2314575"/>
            <a:chOff x="0" y="0"/>
            <a:chExt cx="3713702" cy="609600"/>
          </a:xfrm>
        </p:grpSpPr>
        <p:sp>
          <p:nvSpPr>
            <p:cNvPr id="9" name="Freeform 9"/>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10" name="TextBox 10"/>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7611341" y="-1500188"/>
            <a:ext cx="14100464" cy="2314575"/>
            <a:chOff x="0" y="0"/>
            <a:chExt cx="3713702" cy="609600"/>
          </a:xfrm>
        </p:grpSpPr>
        <p:sp>
          <p:nvSpPr>
            <p:cNvPr id="12" name="Freeform 12"/>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13" name="TextBox 13"/>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4112586" y="8131103"/>
            <a:ext cx="1543050" cy="771525"/>
            <a:chOff x="0" y="0"/>
            <a:chExt cx="812800" cy="406400"/>
          </a:xfrm>
        </p:grpSpPr>
        <p:sp>
          <p:nvSpPr>
            <p:cNvPr id="15" name="Freeform 15"/>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6" name="TextBox 16"/>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830532" y="1346922"/>
            <a:ext cx="1543050" cy="771525"/>
            <a:chOff x="0" y="0"/>
            <a:chExt cx="812800" cy="406400"/>
          </a:xfrm>
        </p:grpSpPr>
        <p:sp>
          <p:nvSpPr>
            <p:cNvPr id="18" name="Freeform 18"/>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9" name="TextBox 19"/>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sp>
        <p:nvSpPr>
          <p:cNvPr id="20" name="Freeform 20"/>
          <p:cNvSpPr/>
          <p:nvPr/>
        </p:nvSpPr>
        <p:spPr>
          <a:xfrm rot="-5400000">
            <a:off x="16100860" y="188482"/>
            <a:ext cx="636444" cy="1680435"/>
          </a:xfrm>
          <a:custGeom>
            <a:avLst/>
            <a:gdLst/>
            <a:ahLst/>
            <a:cxnLst/>
            <a:rect l="l" t="t" r="r" b="b"/>
            <a:pathLst>
              <a:path w="636444" h="1680435">
                <a:moveTo>
                  <a:pt x="0" y="0"/>
                </a:moveTo>
                <a:lnTo>
                  <a:pt x="636444" y="0"/>
                </a:lnTo>
                <a:lnTo>
                  <a:pt x="636444" y="1680436"/>
                </a:lnTo>
                <a:lnTo>
                  <a:pt x="0" y="16804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Freeform 21"/>
          <p:cNvSpPr/>
          <p:nvPr/>
        </p:nvSpPr>
        <p:spPr>
          <a:xfrm rot="-5400000">
            <a:off x="1550696" y="8418082"/>
            <a:ext cx="636444" cy="1680435"/>
          </a:xfrm>
          <a:custGeom>
            <a:avLst/>
            <a:gdLst/>
            <a:ahLst/>
            <a:cxnLst/>
            <a:rect l="l" t="t" r="r" b="b"/>
            <a:pathLst>
              <a:path w="636444" h="1680435">
                <a:moveTo>
                  <a:pt x="0" y="0"/>
                </a:moveTo>
                <a:lnTo>
                  <a:pt x="636444" y="0"/>
                </a:lnTo>
                <a:lnTo>
                  <a:pt x="636444" y="1680436"/>
                </a:lnTo>
                <a:lnTo>
                  <a:pt x="0" y="16804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2" name="Freeform 22"/>
          <p:cNvSpPr/>
          <p:nvPr/>
        </p:nvSpPr>
        <p:spPr>
          <a:xfrm>
            <a:off x="511066" y="2577221"/>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3" name="Freeform 23"/>
          <p:cNvSpPr/>
          <p:nvPr/>
        </p:nvSpPr>
        <p:spPr>
          <a:xfrm>
            <a:off x="16741666" y="6662580"/>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4" name="Freeform 24"/>
          <p:cNvSpPr/>
          <p:nvPr/>
        </p:nvSpPr>
        <p:spPr>
          <a:xfrm>
            <a:off x="11720984" y="6730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5" name="Freeform 25"/>
          <p:cNvSpPr/>
          <p:nvPr/>
        </p:nvSpPr>
        <p:spPr>
          <a:xfrm>
            <a:off x="6532596" y="89026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6" name="TextBox 26"/>
          <p:cNvSpPr txBox="1"/>
          <p:nvPr/>
        </p:nvSpPr>
        <p:spPr>
          <a:xfrm>
            <a:off x="2208430" y="3309746"/>
            <a:ext cx="13871140" cy="2803356"/>
          </a:xfrm>
          <a:prstGeom prst="rect">
            <a:avLst/>
          </a:prstGeom>
        </p:spPr>
        <p:txBody>
          <a:bodyPr lIns="0" tIns="0" rIns="0" bIns="0" rtlCol="0" anchor="t">
            <a:spAutoFit/>
          </a:bodyPr>
          <a:lstStyle/>
          <a:p>
            <a:pPr algn="ctr">
              <a:lnSpc>
                <a:spcPts val="22934"/>
              </a:lnSpc>
            </a:pPr>
            <a:r>
              <a:rPr lang="en-US" sz="16381" b="1" spc="-327">
                <a:solidFill>
                  <a:srgbClr val="282828"/>
                </a:solidFill>
                <a:latin typeface="IBM Plex Sans Thai Bold"/>
                <a:ea typeface="IBM Plex Sans Thai Bold"/>
                <a:cs typeface="IBM Plex Sans Thai Bold"/>
                <a:sym typeface="IBM Plex Sans Thai Bold"/>
              </a:rPr>
              <a:t>Q&amp;A PPT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6E7E9"/>
        </a:solidFill>
        <a:effectLst/>
      </p:bgPr>
    </p:bg>
    <p:spTree>
      <p:nvGrpSpPr>
        <p:cNvPr id="1" name=""/>
        <p:cNvGrpSpPr/>
        <p:nvPr/>
      </p:nvGrpSpPr>
      <p:grpSpPr>
        <a:xfrm>
          <a:off x="0" y="0"/>
          <a:ext cx="0" cy="0"/>
          <a:chOff x="0" y="0"/>
          <a:chExt cx="0" cy="0"/>
        </a:xfrm>
      </p:grpSpPr>
      <p:grpSp>
        <p:nvGrpSpPr>
          <p:cNvPr id="2" name="Group 2"/>
          <p:cNvGrpSpPr/>
          <p:nvPr/>
        </p:nvGrpSpPr>
        <p:grpSpPr>
          <a:xfrm>
            <a:off x="11029950" y="9528897"/>
            <a:ext cx="14100464" cy="2314575"/>
            <a:chOff x="0" y="0"/>
            <a:chExt cx="3713702" cy="609600"/>
          </a:xfrm>
        </p:grpSpPr>
        <p:sp>
          <p:nvSpPr>
            <p:cNvPr id="3" name="Freeform 3"/>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4" name="TextBox 4"/>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438168" y="7214322"/>
            <a:ext cx="14100464" cy="2314575"/>
            <a:chOff x="0" y="0"/>
            <a:chExt cx="3713702" cy="609600"/>
          </a:xfrm>
        </p:grpSpPr>
        <p:sp>
          <p:nvSpPr>
            <p:cNvPr id="6" name="Freeform 6"/>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7" name="TextBox 7"/>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1019559" y="814387"/>
            <a:ext cx="14100464" cy="2314575"/>
            <a:chOff x="0" y="0"/>
            <a:chExt cx="3713702" cy="609600"/>
          </a:xfrm>
        </p:grpSpPr>
        <p:sp>
          <p:nvSpPr>
            <p:cNvPr id="9" name="Freeform 9"/>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10" name="TextBox 10"/>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7611341" y="-1500188"/>
            <a:ext cx="14100464" cy="2314575"/>
            <a:chOff x="0" y="0"/>
            <a:chExt cx="3713702" cy="609600"/>
          </a:xfrm>
        </p:grpSpPr>
        <p:sp>
          <p:nvSpPr>
            <p:cNvPr id="12" name="Freeform 12"/>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13" name="TextBox 13"/>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4112586" y="7985847"/>
            <a:ext cx="1543050" cy="771525"/>
            <a:chOff x="0" y="0"/>
            <a:chExt cx="812800" cy="406400"/>
          </a:xfrm>
        </p:grpSpPr>
        <p:sp>
          <p:nvSpPr>
            <p:cNvPr id="15" name="Freeform 15"/>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6" name="TextBox 16"/>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830532" y="1585912"/>
            <a:ext cx="1543050" cy="771525"/>
            <a:chOff x="0" y="0"/>
            <a:chExt cx="812800" cy="406400"/>
          </a:xfrm>
        </p:grpSpPr>
        <p:sp>
          <p:nvSpPr>
            <p:cNvPr id="18" name="Freeform 18"/>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9" name="TextBox 19"/>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sp>
        <p:nvSpPr>
          <p:cNvPr id="20" name="Freeform 20"/>
          <p:cNvSpPr/>
          <p:nvPr/>
        </p:nvSpPr>
        <p:spPr>
          <a:xfrm rot="-5400000">
            <a:off x="1550696" y="8418082"/>
            <a:ext cx="636444" cy="1680435"/>
          </a:xfrm>
          <a:custGeom>
            <a:avLst/>
            <a:gdLst/>
            <a:ahLst/>
            <a:cxnLst/>
            <a:rect l="l" t="t" r="r" b="b"/>
            <a:pathLst>
              <a:path w="636444" h="1680435">
                <a:moveTo>
                  <a:pt x="0" y="0"/>
                </a:moveTo>
                <a:lnTo>
                  <a:pt x="636444" y="0"/>
                </a:lnTo>
                <a:lnTo>
                  <a:pt x="636444" y="1680436"/>
                </a:lnTo>
                <a:lnTo>
                  <a:pt x="0" y="16804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Freeform 21"/>
          <p:cNvSpPr/>
          <p:nvPr/>
        </p:nvSpPr>
        <p:spPr>
          <a:xfrm>
            <a:off x="511066" y="2577221"/>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Freeform 22"/>
          <p:cNvSpPr/>
          <p:nvPr/>
        </p:nvSpPr>
        <p:spPr>
          <a:xfrm>
            <a:off x="16741666" y="6662580"/>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3" name="Freeform 23"/>
          <p:cNvSpPr/>
          <p:nvPr/>
        </p:nvSpPr>
        <p:spPr>
          <a:xfrm>
            <a:off x="11720984" y="6730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4" name="Freeform 24"/>
          <p:cNvSpPr/>
          <p:nvPr/>
        </p:nvSpPr>
        <p:spPr>
          <a:xfrm>
            <a:off x="6532596" y="89026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5" name="TextBox 25"/>
          <p:cNvSpPr txBox="1"/>
          <p:nvPr/>
        </p:nvSpPr>
        <p:spPr>
          <a:xfrm>
            <a:off x="3373582" y="697602"/>
            <a:ext cx="14914418" cy="5361053"/>
          </a:xfrm>
          <a:prstGeom prst="rect">
            <a:avLst/>
          </a:prstGeom>
        </p:spPr>
        <p:txBody>
          <a:bodyPr lIns="0" tIns="0" rIns="0" bIns="0" rtlCol="0" anchor="t">
            <a:spAutoFit/>
          </a:bodyPr>
          <a:lstStyle/>
          <a:p>
            <a:pPr algn="l">
              <a:lnSpc>
                <a:spcPts val="14258"/>
              </a:lnSpc>
            </a:pPr>
            <a:r>
              <a:rPr lang="en-US" sz="10184" b="1" spc="-203" dirty="0">
                <a:solidFill>
                  <a:srgbClr val="282828"/>
                </a:solidFill>
                <a:latin typeface="IBM Plex Sans Thai Bold"/>
                <a:ea typeface="IBM Plex Sans Thai Bold"/>
                <a:cs typeface="IBM Plex Sans Thai Bold"/>
                <a:sym typeface="IBM Plex Sans Thai Bold"/>
              </a:rPr>
              <a:t>Slide 2 – Engineering Concepts: Control &amp; Auto</a:t>
            </a:r>
          </a:p>
        </p:txBody>
      </p:sp>
      <p:sp>
        <p:nvSpPr>
          <p:cNvPr id="26" name="TextBox 26"/>
          <p:cNvSpPr txBox="1"/>
          <p:nvPr/>
        </p:nvSpPr>
        <p:spPr>
          <a:xfrm>
            <a:off x="2602057" y="4752466"/>
            <a:ext cx="12774725" cy="2555227"/>
          </a:xfrm>
          <a:prstGeom prst="rect">
            <a:avLst/>
          </a:prstGeom>
        </p:spPr>
        <p:txBody>
          <a:bodyPr lIns="0" tIns="0" rIns="0" bIns="0" rtlCol="0" anchor="t">
            <a:spAutoFit/>
          </a:bodyPr>
          <a:lstStyle/>
          <a:p>
            <a:pPr algn="l">
              <a:lnSpc>
                <a:spcPts val="4060"/>
              </a:lnSpc>
            </a:pPr>
            <a:endParaRPr/>
          </a:p>
          <a:p>
            <a:pPr algn="l">
              <a:lnSpc>
                <a:spcPts val="4060"/>
              </a:lnSpc>
            </a:pPr>
            <a:r>
              <a:rPr lang="en-US" sz="2900">
                <a:solidFill>
                  <a:srgbClr val="282828"/>
                </a:solidFill>
                <a:latin typeface="IBM Plex Sans Thai"/>
                <a:ea typeface="IBM Plex Sans Thai"/>
                <a:cs typeface="IBM Plex Sans Thai"/>
                <a:sym typeface="IBM Plex Sans Thai"/>
              </a:rPr>
              <a:t>Answer: Raw sensor values are not always accurate. Calibration compares sensor readings with known reference values to determine the correct conversion equation. This reduces measurement error and increases the accuracy of the entire system.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6E7E9"/>
        </a:solidFill>
        <a:effectLst/>
      </p:bgPr>
    </p:bg>
    <p:spTree>
      <p:nvGrpSpPr>
        <p:cNvPr id="1" name=""/>
        <p:cNvGrpSpPr/>
        <p:nvPr/>
      </p:nvGrpSpPr>
      <p:grpSpPr>
        <a:xfrm>
          <a:off x="0" y="0"/>
          <a:ext cx="0" cy="0"/>
          <a:chOff x="0" y="0"/>
          <a:chExt cx="0" cy="0"/>
        </a:xfrm>
      </p:grpSpPr>
      <p:grpSp>
        <p:nvGrpSpPr>
          <p:cNvPr id="2" name="Group 2"/>
          <p:cNvGrpSpPr/>
          <p:nvPr/>
        </p:nvGrpSpPr>
        <p:grpSpPr>
          <a:xfrm>
            <a:off x="11029950" y="9528897"/>
            <a:ext cx="14100464" cy="2314575"/>
            <a:chOff x="0" y="0"/>
            <a:chExt cx="3713702" cy="609600"/>
          </a:xfrm>
        </p:grpSpPr>
        <p:sp>
          <p:nvSpPr>
            <p:cNvPr id="3" name="Freeform 3"/>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4" name="TextBox 4"/>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438168" y="7214322"/>
            <a:ext cx="14100464" cy="2314575"/>
            <a:chOff x="0" y="0"/>
            <a:chExt cx="3713702" cy="609600"/>
          </a:xfrm>
        </p:grpSpPr>
        <p:sp>
          <p:nvSpPr>
            <p:cNvPr id="6" name="Freeform 6"/>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7" name="TextBox 7"/>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1019559" y="814387"/>
            <a:ext cx="14100464" cy="2314575"/>
            <a:chOff x="0" y="0"/>
            <a:chExt cx="3713702" cy="609600"/>
          </a:xfrm>
        </p:grpSpPr>
        <p:sp>
          <p:nvSpPr>
            <p:cNvPr id="9" name="Freeform 9"/>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10" name="TextBox 10"/>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7611341" y="-1500188"/>
            <a:ext cx="14100464" cy="2314575"/>
            <a:chOff x="0" y="0"/>
            <a:chExt cx="3713702" cy="609600"/>
          </a:xfrm>
        </p:grpSpPr>
        <p:sp>
          <p:nvSpPr>
            <p:cNvPr id="12" name="Freeform 12"/>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13" name="TextBox 13"/>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4112586" y="7985847"/>
            <a:ext cx="1543050" cy="771525"/>
            <a:chOff x="0" y="0"/>
            <a:chExt cx="812800" cy="406400"/>
          </a:xfrm>
        </p:grpSpPr>
        <p:sp>
          <p:nvSpPr>
            <p:cNvPr id="15" name="Freeform 15"/>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6" name="TextBox 16"/>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830532" y="1585912"/>
            <a:ext cx="1543050" cy="771525"/>
            <a:chOff x="0" y="0"/>
            <a:chExt cx="812800" cy="406400"/>
          </a:xfrm>
        </p:grpSpPr>
        <p:sp>
          <p:nvSpPr>
            <p:cNvPr id="18" name="Freeform 18"/>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9" name="TextBox 19"/>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sp>
        <p:nvSpPr>
          <p:cNvPr id="20" name="Freeform 20"/>
          <p:cNvSpPr/>
          <p:nvPr/>
        </p:nvSpPr>
        <p:spPr>
          <a:xfrm rot="-5400000">
            <a:off x="1550696" y="8418082"/>
            <a:ext cx="636444" cy="1680435"/>
          </a:xfrm>
          <a:custGeom>
            <a:avLst/>
            <a:gdLst/>
            <a:ahLst/>
            <a:cxnLst/>
            <a:rect l="l" t="t" r="r" b="b"/>
            <a:pathLst>
              <a:path w="636444" h="1680435">
                <a:moveTo>
                  <a:pt x="0" y="0"/>
                </a:moveTo>
                <a:lnTo>
                  <a:pt x="636444" y="0"/>
                </a:lnTo>
                <a:lnTo>
                  <a:pt x="636444" y="1680436"/>
                </a:lnTo>
                <a:lnTo>
                  <a:pt x="0" y="16804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Freeform 21"/>
          <p:cNvSpPr/>
          <p:nvPr/>
        </p:nvSpPr>
        <p:spPr>
          <a:xfrm>
            <a:off x="511066" y="2577221"/>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Freeform 22"/>
          <p:cNvSpPr/>
          <p:nvPr/>
        </p:nvSpPr>
        <p:spPr>
          <a:xfrm>
            <a:off x="16741666" y="6662580"/>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3" name="Freeform 23"/>
          <p:cNvSpPr/>
          <p:nvPr/>
        </p:nvSpPr>
        <p:spPr>
          <a:xfrm>
            <a:off x="11720984" y="6730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4" name="Freeform 24"/>
          <p:cNvSpPr/>
          <p:nvPr/>
        </p:nvSpPr>
        <p:spPr>
          <a:xfrm>
            <a:off x="6532596" y="89026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5" name="TextBox 25"/>
          <p:cNvSpPr txBox="1"/>
          <p:nvPr/>
        </p:nvSpPr>
        <p:spPr>
          <a:xfrm>
            <a:off x="3454544" y="4018537"/>
            <a:ext cx="11378912" cy="3974700"/>
          </a:xfrm>
          <a:prstGeom prst="rect">
            <a:avLst/>
          </a:prstGeom>
        </p:spPr>
        <p:txBody>
          <a:bodyPr lIns="0" tIns="0" rIns="0" bIns="0" rtlCol="0" anchor="t">
            <a:spAutoFit/>
          </a:bodyPr>
          <a:lstStyle/>
          <a:p>
            <a:pPr algn="ctr">
              <a:lnSpc>
                <a:spcPts val="4572"/>
              </a:lnSpc>
            </a:pPr>
            <a:endParaRPr/>
          </a:p>
          <a:p>
            <a:pPr algn="ctr">
              <a:lnSpc>
                <a:spcPts val="4572"/>
              </a:lnSpc>
            </a:pPr>
            <a:r>
              <a:rPr lang="en-US" sz="3265">
                <a:solidFill>
                  <a:srgbClr val="282828"/>
                </a:solidFill>
                <a:latin typeface="IBM Plex Sans Thai"/>
                <a:ea typeface="IBM Plex Sans Thai"/>
                <a:cs typeface="IBM Plex Sans Thai"/>
                <a:sym typeface="IBM Plex Sans Thai"/>
              </a:rPr>
              <a:t>Answer: The main contribution is integrating five sensing modalities into one intelligent embedded system that performs automatic decision-making, controls actuators, records timestamped data, and provides reliable security and fire protection while remaining modular, scalable, and easy to maintain.</a:t>
            </a:r>
          </a:p>
        </p:txBody>
      </p:sp>
      <p:sp>
        <p:nvSpPr>
          <p:cNvPr id="26" name="TextBox 26"/>
          <p:cNvSpPr txBox="1"/>
          <p:nvPr/>
        </p:nvSpPr>
        <p:spPr>
          <a:xfrm>
            <a:off x="1028700" y="895350"/>
            <a:ext cx="16230600" cy="3627448"/>
          </a:xfrm>
          <a:prstGeom prst="rect">
            <a:avLst/>
          </a:prstGeom>
        </p:spPr>
        <p:txBody>
          <a:bodyPr lIns="0" tIns="0" rIns="0" bIns="0" rtlCol="0" anchor="t">
            <a:spAutoFit/>
          </a:bodyPr>
          <a:lstStyle/>
          <a:p>
            <a:pPr algn="ctr">
              <a:lnSpc>
                <a:spcPts val="9635"/>
              </a:lnSpc>
            </a:pPr>
            <a:r>
              <a:rPr lang="en-US" sz="6882" b="1" spc="-137">
                <a:solidFill>
                  <a:srgbClr val="282828"/>
                </a:solidFill>
                <a:latin typeface="IBM Plex Sans Thai Bold"/>
                <a:ea typeface="IBM Plex Sans Thai Bold"/>
                <a:cs typeface="IBM Plex Sans Thai Bold"/>
                <a:sym typeface="IBM Plex Sans Thai Bold"/>
              </a:rPr>
              <a:t>Q1. What is the biggest engineering contribution of your project?</a:t>
            </a:r>
          </a:p>
          <a:p>
            <a:pPr algn="ctr">
              <a:lnSpc>
                <a:spcPts val="9635"/>
              </a:lnSpc>
            </a:pPr>
            <a:r>
              <a:rPr lang="en-US" sz="6882" b="1" spc="-137">
                <a:solidFill>
                  <a:srgbClr val="282828"/>
                </a:solidFill>
                <a:latin typeface="IBM Plex Sans Thai Bold"/>
                <a:ea typeface="IBM Plex Sans Thai Bold"/>
                <a:cs typeface="IBM Plex Sans Thai Bold"/>
                <a:sym typeface="IBM Plex Sans Thai Bold"/>
              </a:rPr>
              <a:t>    </a:t>
            </a:r>
          </a:p>
        </p:txBody>
      </p:sp>
      <p:sp>
        <p:nvSpPr>
          <p:cNvPr id="27" name="TextBox 27"/>
          <p:cNvSpPr txBox="1"/>
          <p:nvPr/>
        </p:nvSpPr>
        <p:spPr>
          <a:xfrm>
            <a:off x="16684489" y="448758"/>
            <a:ext cx="1149622" cy="1017659"/>
          </a:xfrm>
          <a:prstGeom prst="rect">
            <a:avLst/>
          </a:prstGeom>
        </p:spPr>
        <p:txBody>
          <a:bodyPr lIns="0" tIns="0" rIns="0" bIns="0" rtlCol="0" anchor="t">
            <a:spAutoFit/>
          </a:bodyPr>
          <a:lstStyle/>
          <a:p>
            <a:pPr algn="ctr">
              <a:lnSpc>
                <a:spcPts val="8392"/>
              </a:lnSpc>
            </a:pPr>
            <a:r>
              <a:rPr lang="en-US" sz="5994" b="1" spc="-119" dirty="0">
                <a:solidFill>
                  <a:srgbClr val="545454"/>
                </a:solidFill>
                <a:latin typeface="IBM Plex Sans Thai Bold"/>
                <a:ea typeface="IBM Plex Sans Thai Bold"/>
                <a:cs typeface="IBM Plex Sans Thai Bold"/>
                <a:sym typeface="IBM Plex Sans Thai Bold"/>
              </a:rPr>
              <a:t>01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6E7E9"/>
        </a:solidFill>
        <a:effectLst/>
      </p:bgPr>
    </p:bg>
    <p:spTree>
      <p:nvGrpSpPr>
        <p:cNvPr id="1" name=""/>
        <p:cNvGrpSpPr/>
        <p:nvPr/>
      </p:nvGrpSpPr>
      <p:grpSpPr>
        <a:xfrm>
          <a:off x="0" y="0"/>
          <a:ext cx="0" cy="0"/>
          <a:chOff x="0" y="0"/>
          <a:chExt cx="0" cy="0"/>
        </a:xfrm>
      </p:grpSpPr>
      <p:grpSp>
        <p:nvGrpSpPr>
          <p:cNvPr id="2" name="Group 2"/>
          <p:cNvGrpSpPr/>
          <p:nvPr/>
        </p:nvGrpSpPr>
        <p:grpSpPr>
          <a:xfrm>
            <a:off x="11029950" y="9528897"/>
            <a:ext cx="14100464" cy="2314575"/>
            <a:chOff x="0" y="0"/>
            <a:chExt cx="3713702" cy="609600"/>
          </a:xfrm>
        </p:grpSpPr>
        <p:sp>
          <p:nvSpPr>
            <p:cNvPr id="3" name="Freeform 3"/>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4" name="TextBox 4"/>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438168" y="7214322"/>
            <a:ext cx="14100464" cy="2314575"/>
            <a:chOff x="0" y="0"/>
            <a:chExt cx="3713702" cy="609600"/>
          </a:xfrm>
        </p:grpSpPr>
        <p:sp>
          <p:nvSpPr>
            <p:cNvPr id="6" name="Freeform 6"/>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7" name="TextBox 7"/>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1019559" y="814387"/>
            <a:ext cx="14100464" cy="2314575"/>
            <a:chOff x="0" y="0"/>
            <a:chExt cx="3713702" cy="609600"/>
          </a:xfrm>
        </p:grpSpPr>
        <p:sp>
          <p:nvSpPr>
            <p:cNvPr id="9" name="Freeform 9"/>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10" name="TextBox 10"/>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7611341" y="-1500188"/>
            <a:ext cx="14100464" cy="2314575"/>
            <a:chOff x="0" y="0"/>
            <a:chExt cx="3713702" cy="609600"/>
          </a:xfrm>
        </p:grpSpPr>
        <p:sp>
          <p:nvSpPr>
            <p:cNvPr id="12" name="Freeform 12"/>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13" name="TextBox 13"/>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4112586" y="8131103"/>
            <a:ext cx="1543050" cy="771525"/>
            <a:chOff x="0" y="0"/>
            <a:chExt cx="812800" cy="406400"/>
          </a:xfrm>
        </p:grpSpPr>
        <p:sp>
          <p:nvSpPr>
            <p:cNvPr id="15" name="Freeform 15"/>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6" name="TextBox 16"/>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830532" y="1346922"/>
            <a:ext cx="1543050" cy="771525"/>
            <a:chOff x="0" y="0"/>
            <a:chExt cx="812800" cy="406400"/>
          </a:xfrm>
        </p:grpSpPr>
        <p:sp>
          <p:nvSpPr>
            <p:cNvPr id="18" name="Freeform 18"/>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9" name="TextBox 19"/>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sp>
        <p:nvSpPr>
          <p:cNvPr id="20" name="Freeform 20"/>
          <p:cNvSpPr/>
          <p:nvPr/>
        </p:nvSpPr>
        <p:spPr>
          <a:xfrm rot="-5400000">
            <a:off x="1550696" y="8418082"/>
            <a:ext cx="636444" cy="1680435"/>
          </a:xfrm>
          <a:custGeom>
            <a:avLst/>
            <a:gdLst/>
            <a:ahLst/>
            <a:cxnLst/>
            <a:rect l="l" t="t" r="r" b="b"/>
            <a:pathLst>
              <a:path w="636444" h="1680435">
                <a:moveTo>
                  <a:pt x="0" y="0"/>
                </a:moveTo>
                <a:lnTo>
                  <a:pt x="636444" y="0"/>
                </a:lnTo>
                <a:lnTo>
                  <a:pt x="636444" y="1680436"/>
                </a:lnTo>
                <a:lnTo>
                  <a:pt x="0" y="16804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Freeform 21"/>
          <p:cNvSpPr/>
          <p:nvPr/>
        </p:nvSpPr>
        <p:spPr>
          <a:xfrm>
            <a:off x="511066" y="2577221"/>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Freeform 22"/>
          <p:cNvSpPr/>
          <p:nvPr/>
        </p:nvSpPr>
        <p:spPr>
          <a:xfrm>
            <a:off x="16741666" y="6662580"/>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3" name="Freeform 23"/>
          <p:cNvSpPr/>
          <p:nvPr/>
        </p:nvSpPr>
        <p:spPr>
          <a:xfrm>
            <a:off x="11720984" y="6730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4" name="Freeform 24"/>
          <p:cNvSpPr/>
          <p:nvPr/>
        </p:nvSpPr>
        <p:spPr>
          <a:xfrm>
            <a:off x="6532596" y="89026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5" name="TextBox 25"/>
          <p:cNvSpPr txBox="1"/>
          <p:nvPr/>
        </p:nvSpPr>
        <p:spPr>
          <a:xfrm>
            <a:off x="1028700" y="1324009"/>
            <a:ext cx="16230600" cy="2356695"/>
          </a:xfrm>
          <a:prstGeom prst="rect">
            <a:avLst/>
          </a:prstGeom>
        </p:spPr>
        <p:txBody>
          <a:bodyPr lIns="0" tIns="0" rIns="0" bIns="0" rtlCol="0" anchor="t">
            <a:spAutoFit/>
          </a:bodyPr>
          <a:lstStyle/>
          <a:p>
            <a:pPr algn="ctr">
              <a:lnSpc>
                <a:spcPts val="6236"/>
              </a:lnSpc>
            </a:pPr>
            <a:r>
              <a:rPr lang="en-US" sz="4454" b="1" spc="-89">
                <a:solidFill>
                  <a:srgbClr val="282828"/>
                </a:solidFill>
                <a:latin typeface="IBM Plex Sans Thai Bold"/>
                <a:ea typeface="IBM Plex Sans Thai Bold"/>
                <a:cs typeface="IBM Plex Sans Thai Bold"/>
                <a:sym typeface="IBM Plex Sans Thai Bold"/>
              </a:rPr>
              <a:t>Q2.  Why did you use two sensors for entry detection instead of only one?</a:t>
            </a:r>
          </a:p>
          <a:p>
            <a:pPr algn="ctr">
              <a:lnSpc>
                <a:spcPts val="6236"/>
              </a:lnSpc>
            </a:pPr>
            <a:endParaRPr lang="en-US" sz="4454" b="1" spc="-89">
              <a:solidFill>
                <a:srgbClr val="282828"/>
              </a:solidFill>
              <a:latin typeface="IBM Plex Sans Thai Bold"/>
              <a:ea typeface="IBM Plex Sans Thai Bold"/>
              <a:cs typeface="IBM Plex Sans Thai Bold"/>
              <a:sym typeface="IBM Plex Sans Thai Bold"/>
            </a:endParaRPr>
          </a:p>
        </p:txBody>
      </p:sp>
      <p:sp>
        <p:nvSpPr>
          <p:cNvPr id="26" name="TextBox 26"/>
          <p:cNvSpPr txBox="1"/>
          <p:nvPr/>
        </p:nvSpPr>
        <p:spPr>
          <a:xfrm>
            <a:off x="1830532" y="3605212"/>
            <a:ext cx="15232054" cy="3403200"/>
          </a:xfrm>
          <a:prstGeom prst="rect">
            <a:avLst/>
          </a:prstGeom>
        </p:spPr>
        <p:txBody>
          <a:bodyPr lIns="0" tIns="0" rIns="0" bIns="0" rtlCol="0" anchor="t">
            <a:spAutoFit/>
          </a:bodyPr>
          <a:lstStyle/>
          <a:p>
            <a:pPr algn="l">
              <a:lnSpc>
                <a:spcPts val="4572"/>
              </a:lnSpc>
            </a:pPr>
            <a:endParaRPr/>
          </a:p>
          <a:p>
            <a:pPr algn="l">
              <a:lnSpc>
                <a:spcPts val="4572"/>
              </a:lnSpc>
            </a:pPr>
            <a:r>
              <a:rPr lang="en-US" sz="3265">
                <a:solidFill>
                  <a:srgbClr val="282828"/>
                </a:solidFill>
                <a:latin typeface="IBM Plex Sans Thai"/>
                <a:ea typeface="IBM Plex Sans Thai"/>
                <a:cs typeface="IBM Plex Sans Thai"/>
                <a:sym typeface="IBM Plex Sans Thai"/>
              </a:rPr>
              <a:t>Answer: We used sensor fusion to improve reliability. The TCRT5000 detects the presence of a person, while the load cell confirms that someone is physically standing on the platform. The door requests the PIN only when both conditions are true. This greatly reduces false alarms caused by reflections, shadows, or nearby objects.</a:t>
            </a:r>
          </a:p>
        </p:txBody>
      </p:sp>
      <p:sp>
        <p:nvSpPr>
          <p:cNvPr id="27" name="TextBox 27"/>
          <p:cNvSpPr txBox="1"/>
          <p:nvPr/>
        </p:nvSpPr>
        <p:spPr>
          <a:xfrm>
            <a:off x="16684489" y="448758"/>
            <a:ext cx="1149622" cy="1017659"/>
          </a:xfrm>
          <a:prstGeom prst="rect">
            <a:avLst/>
          </a:prstGeom>
        </p:spPr>
        <p:txBody>
          <a:bodyPr lIns="0" tIns="0" rIns="0" bIns="0" rtlCol="0" anchor="t">
            <a:spAutoFit/>
          </a:bodyPr>
          <a:lstStyle/>
          <a:p>
            <a:pPr algn="ctr">
              <a:lnSpc>
                <a:spcPts val="8392"/>
              </a:lnSpc>
            </a:pPr>
            <a:r>
              <a:rPr lang="en-US" sz="5994" b="1" spc="-119" dirty="0">
                <a:solidFill>
                  <a:srgbClr val="545454"/>
                </a:solidFill>
                <a:latin typeface="IBM Plex Sans Thai Bold"/>
                <a:ea typeface="IBM Plex Sans Thai Bold"/>
                <a:cs typeface="IBM Plex Sans Thai Bold"/>
                <a:sym typeface="IBM Plex Sans Thai Bold"/>
              </a:rPr>
              <a:t>02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6E7E9"/>
        </a:solidFill>
        <a:effectLst/>
      </p:bgPr>
    </p:bg>
    <p:spTree>
      <p:nvGrpSpPr>
        <p:cNvPr id="1" name=""/>
        <p:cNvGrpSpPr/>
        <p:nvPr/>
      </p:nvGrpSpPr>
      <p:grpSpPr>
        <a:xfrm>
          <a:off x="0" y="0"/>
          <a:ext cx="0" cy="0"/>
          <a:chOff x="0" y="0"/>
          <a:chExt cx="0" cy="0"/>
        </a:xfrm>
      </p:grpSpPr>
      <p:grpSp>
        <p:nvGrpSpPr>
          <p:cNvPr id="2" name="Group 2"/>
          <p:cNvGrpSpPr/>
          <p:nvPr/>
        </p:nvGrpSpPr>
        <p:grpSpPr>
          <a:xfrm>
            <a:off x="11029950" y="9528897"/>
            <a:ext cx="14100464" cy="2314575"/>
            <a:chOff x="0" y="0"/>
            <a:chExt cx="3713702" cy="609600"/>
          </a:xfrm>
        </p:grpSpPr>
        <p:sp>
          <p:nvSpPr>
            <p:cNvPr id="3" name="Freeform 3"/>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4" name="TextBox 4"/>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438168" y="7214322"/>
            <a:ext cx="14100464" cy="2314575"/>
            <a:chOff x="0" y="0"/>
            <a:chExt cx="3713702" cy="609600"/>
          </a:xfrm>
        </p:grpSpPr>
        <p:sp>
          <p:nvSpPr>
            <p:cNvPr id="6" name="Freeform 6"/>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7" name="TextBox 7"/>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1019559" y="814387"/>
            <a:ext cx="14100464" cy="2314575"/>
            <a:chOff x="0" y="0"/>
            <a:chExt cx="3713702" cy="609600"/>
          </a:xfrm>
        </p:grpSpPr>
        <p:sp>
          <p:nvSpPr>
            <p:cNvPr id="9" name="Freeform 9"/>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10" name="TextBox 10"/>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7611341" y="-1500188"/>
            <a:ext cx="14100464" cy="2314575"/>
            <a:chOff x="0" y="0"/>
            <a:chExt cx="3713702" cy="609600"/>
          </a:xfrm>
        </p:grpSpPr>
        <p:sp>
          <p:nvSpPr>
            <p:cNvPr id="12" name="Freeform 12"/>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13" name="TextBox 13"/>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4112586" y="7985847"/>
            <a:ext cx="1543050" cy="771525"/>
            <a:chOff x="0" y="0"/>
            <a:chExt cx="812800" cy="406400"/>
          </a:xfrm>
        </p:grpSpPr>
        <p:sp>
          <p:nvSpPr>
            <p:cNvPr id="15" name="Freeform 15"/>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6" name="TextBox 16"/>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830532" y="1585912"/>
            <a:ext cx="1543050" cy="771525"/>
            <a:chOff x="0" y="0"/>
            <a:chExt cx="812800" cy="406400"/>
          </a:xfrm>
        </p:grpSpPr>
        <p:sp>
          <p:nvSpPr>
            <p:cNvPr id="18" name="Freeform 18"/>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9" name="TextBox 19"/>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sp>
        <p:nvSpPr>
          <p:cNvPr id="20" name="Freeform 20"/>
          <p:cNvSpPr/>
          <p:nvPr/>
        </p:nvSpPr>
        <p:spPr>
          <a:xfrm rot="-5400000">
            <a:off x="1550696" y="8418082"/>
            <a:ext cx="636444" cy="1680435"/>
          </a:xfrm>
          <a:custGeom>
            <a:avLst/>
            <a:gdLst/>
            <a:ahLst/>
            <a:cxnLst/>
            <a:rect l="l" t="t" r="r" b="b"/>
            <a:pathLst>
              <a:path w="636444" h="1680435">
                <a:moveTo>
                  <a:pt x="0" y="0"/>
                </a:moveTo>
                <a:lnTo>
                  <a:pt x="636444" y="0"/>
                </a:lnTo>
                <a:lnTo>
                  <a:pt x="636444" y="1680436"/>
                </a:lnTo>
                <a:lnTo>
                  <a:pt x="0" y="16804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Freeform 21"/>
          <p:cNvSpPr/>
          <p:nvPr/>
        </p:nvSpPr>
        <p:spPr>
          <a:xfrm>
            <a:off x="511066" y="2577221"/>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Freeform 22"/>
          <p:cNvSpPr/>
          <p:nvPr/>
        </p:nvSpPr>
        <p:spPr>
          <a:xfrm>
            <a:off x="16741666" y="6662580"/>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3" name="Freeform 23"/>
          <p:cNvSpPr/>
          <p:nvPr/>
        </p:nvSpPr>
        <p:spPr>
          <a:xfrm>
            <a:off x="11720984" y="6730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4" name="Freeform 24"/>
          <p:cNvSpPr/>
          <p:nvPr/>
        </p:nvSpPr>
        <p:spPr>
          <a:xfrm>
            <a:off x="6532596" y="89026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5" name="TextBox 25"/>
          <p:cNvSpPr txBox="1"/>
          <p:nvPr/>
        </p:nvSpPr>
        <p:spPr>
          <a:xfrm>
            <a:off x="3373582" y="697602"/>
            <a:ext cx="14914418" cy="5361053"/>
          </a:xfrm>
          <a:prstGeom prst="rect">
            <a:avLst/>
          </a:prstGeom>
        </p:spPr>
        <p:txBody>
          <a:bodyPr lIns="0" tIns="0" rIns="0" bIns="0" rtlCol="0" anchor="t">
            <a:spAutoFit/>
          </a:bodyPr>
          <a:lstStyle/>
          <a:p>
            <a:pPr algn="l">
              <a:lnSpc>
                <a:spcPts val="14258"/>
              </a:lnSpc>
            </a:pPr>
            <a:r>
              <a:rPr lang="en-US" sz="10184" b="1" spc="-203">
                <a:solidFill>
                  <a:srgbClr val="282828"/>
                </a:solidFill>
                <a:latin typeface="IBM Plex Sans Thai Bold"/>
                <a:ea typeface="IBM Plex Sans Thai Bold"/>
                <a:cs typeface="IBM Plex Sans Thai Bold"/>
                <a:sym typeface="IBM Plex Sans Thai Bold"/>
              </a:rPr>
              <a:t>Q3. Why is calibration important?</a:t>
            </a:r>
          </a:p>
          <a:p>
            <a:pPr algn="l">
              <a:lnSpc>
                <a:spcPts val="14258"/>
              </a:lnSpc>
            </a:pPr>
            <a:endParaRPr lang="en-US" sz="10184" b="1" spc="-203">
              <a:solidFill>
                <a:srgbClr val="282828"/>
              </a:solidFill>
              <a:latin typeface="IBM Plex Sans Thai Bold"/>
              <a:ea typeface="IBM Plex Sans Thai Bold"/>
              <a:cs typeface="IBM Plex Sans Thai Bold"/>
              <a:sym typeface="IBM Plex Sans Thai Bold"/>
            </a:endParaRPr>
          </a:p>
        </p:txBody>
      </p:sp>
      <p:sp>
        <p:nvSpPr>
          <p:cNvPr id="26" name="TextBox 26"/>
          <p:cNvSpPr txBox="1"/>
          <p:nvPr/>
        </p:nvSpPr>
        <p:spPr>
          <a:xfrm>
            <a:off x="2602057" y="4752466"/>
            <a:ext cx="12774725" cy="2555227"/>
          </a:xfrm>
          <a:prstGeom prst="rect">
            <a:avLst/>
          </a:prstGeom>
        </p:spPr>
        <p:txBody>
          <a:bodyPr lIns="0" tIns="0" rIns="0" bIns="0" rtlCol="0" anchor="t">
            <a:spAutoFit/>
          </a:bodyPr>
          <a:lstStyle/>
          <a:p>
            <a:pPr algn="l">
              <a:lnSpc>
                <a:spcPts val="4060"/>
              </a:lnSpc>
            </a:pPr>
            <a:endParaRPr/>
          </a:p>
          <a:p>
            <a:pPr algn="l">
              <a:lnSpc>
                <a:spcPts val="4060"/>
              </a:lnSpc>
            </a:pPr>
            <a:r>
              <a:rPr lang="en-US" sz="2900">
                <a:solidFill>
                  <a:srgbClr val="282828"/>
                </a:solidFill>
                <a:latin typeface="IBM Plex Sans Thai"/>
                <a:ea typeface="IBM Plex Sans Thai"/>
                <a:cs typeface="IBM Plex Sans Thai"/>
                <a:sym typeface="IBM Plex Sans Thai"/>
              </a:rPr>
              <a:t>Answer: Raw sensor values are not always accurate. Calibration compares sensor readings with known reference values to determine the correct conversion equation. This reduces measurement error and increases the accuracy of the entire system.</a:t>
            </a:r>
          </a:p>
        </p:txBody>
      </p:sp>
      <p:sp>
        <p:nvSpPr>
          <p:cNvPr id="27" name="TextBox 27"/>
          <p:cNvSpPr txBox="1"/>
          <p:nvPr/>
        </p:nvSpPr>
        <p:spPr>
          <a:xfrm>
            <a:off x="16684489" y="448758"/>
            <a:ext cx="1149622" cy="1077218"/>
          </a:xfrm>
          <a:prstGeom prst="rect">
            <a:avLst/>
          </a:prstGeom>
        </p:spPr>
        <p:txBody>
          <a:bodyPr lIns="0" tIns="0" rIns="0" bIns="0" rtlCol="0" anchor="t">
            <a:spAutoFit/>
          </a:bodyPr>
          <a:lstStyle/>
          <a:p>
            <a:pPr algn="ctr">
              <a:lnSpc>
                <a:spcPts val="8392"/>
              </a:lnSpc>
            </a:pPr>
            <a:r>
              <a:rPr lang="en-US" sz="5994" b="1" spc="-119" dirty="0">
                <a:solidFill>
                  <a:srgbClr val="545454"/>
                </a:solidFill>
                <a:latin typeface="IBM Plex Sans Thai Bold"/>
                <a:ea typeface="IBM Plex Sans Thai Bold"/>
                <a:cs typeface="IBM Plex Sans Thai Bold"/>
                <a:sym typeface="IBM Plex Sans Thai Bold"/>
              </a:rPr>
              <a:t>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6E7E9"/>
        </a:solidFill>
        <a:effectLst/>
      </p:bgPr>
    </p:bg>
    <p:spTree>
      <p:nvGrpSpPr>
        <p:cNvPr id="1" name=""/>
        <p:cNvGrpSpPr/>
        <p:nvPr/>
      </p:nvGrpSpPr>
      <p:grpSpPr>
        <a:xfrm>
          <a:off x="0" y="0"/>
          <a:ext cx="0" cy="0"/>
          <a:chOff x="0" y="0"/>
          <a:chExt cx="0" cy="0"/>
        </a:xfrm>
      </p:grpSpPr>
      <p:grpSp>
        <p:nvGrpSpPr>
          <p:cNvPr id="2" name="Group 2"/>
          <p:cNvGrpSpPr/>
          <p:nvPr/>
        </p:nvGrpSpPr>
        <p:grpSpPr>
          <a:xfrm>
            <a:off x="11029950" y="9528897"/>
            <a:ext cx="14100464" cy="2314575"/>
            <a:chOff x="0" y="0"/>
            <a:chExt cx="3713702" cy="609600"/>
          </a:xfrm>
        </p:grpSpPr>
        <p:sp>
          <p:nvSpPr>
            <p:cNvPr id="3" name="Freeform 3"/>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4" name="TextBox 4"/>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438168" y="7214322"/>
            <a:ext cx="14100464" cy="2314575"/>
            <a:chOff x="0" y="0"/>
            <a:chExt cx="3713702" cy="609600"/>
          </a:xfrm>
        </p:grpSpPr>
        <p:sp>
          <p:nvSpPr>
            <p:cNvPr id="6" name="Freeform 6"/>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7" name="TextBox 7"/>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1019559" y="814387"/>
            <a:ext cx="14100464" cy="2314575"/>
            <a:chOff x="0" y="0"/>
            <a:chExt cx="3713702" cy="609600"/>
          </a:xfrm>
        </p:grpSpPr>
        <p:sp>
          <p:nvSpPr>
            <p:cNvPr id="9" name="Freeform 9"/>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10" name="TextBox 10"/>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7611341" y="-1500188"/>
            <a:ext cx="14100464" cy="2314575"/>
            <a:chOff x="0" y="0"/>
            <a:chExt cx="3713702" cy="609600"/>
          </a:xfrm>
        </p:grpSpPr>
        <p:sp>
          <p:nvSpPr>
            <p:cNvPr id="12" name="Freeform 12"/>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13" name="TextBox 13"/>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4112586" y="7985847"/>
            <a:ext cx="1543050" cy="771525"/>
            <a:chOff x="0" y="0"/>
            <a:chExt cx="812800" cy="406400"/>
          </a:xfrm>
        </p:grpSpPr>
        <p:sp>
          <p:nvSpPr>
            <p:cNvPr id="15" name="Freeform 15"/>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6" name="TextBox 16"/>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830532" y="1585912"/>
            <a:ext cx="1543050" cy="771525"/>
            <a:chOff x="0" y="0"/>
            <a:chExt cx="812800" cy="406400"/>
          </a:xfrm>
        </p:grpSpPr>
        <p:sp>
          <p:nvSpPr>
            <p:cNvPr id="18" name="Freeform 18"/>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9" name="TextBox 19"/>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sp>
        <p:nvSpPr>
          <p:cNvPr id="20" name="Freeform 20"/>
          <p:cNvSpPr/>
          <p:nvPr/>
        </p:nvSpPr>
        <p:spPr>
          <a:xfrm rot="-5400000">
            <a:off x="1550696" y="8418082"/>
            <a:ext cx="636444" cy="1680435"/>
          </a:xfrm>
          <a:custGeom>
            <a:avLst/>
            <a:gdLst/>
            <a:ahLst/>
            <a:cxnLst/>
            <a:rect l="l" t="t" r="r" b="b"/>
            <a:pathLst>
              <a:path w="636444" h="1680435">
                <a:moveTo>
                  <a:pt x="0" y="0"/>
                </a:moveTo>
                <a:lnTo>
                  <a:pt x="636444" y="0"/>
                </a:lnTo>
                <a:lnTo>
                  <a:pt x="636444" y="1680436"/>
                </a:lnTo>
                <a:lnTo>
                  <a:pt x="0" y="16804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Freeform 21"/>
          <p:cNvSpPr/>
          <p:nvPr/>
        </p:nvSpPr>
        <p:spPr>
          <a:xfrm>
            <a:off x="511066" y="2577221"/>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Freeform 22"/>
          <p:cNvSpPr/>
          <p:nvPr/>
        </p:nvSpPr>
        <p:spPr>
          <a:xfrm>
            <a:off x="16741666" y="6662580"/>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3" name="Freeform 23"/>
          <p:cNvSpPr/>
          <p:nvPr/>
        </p:nvSpPr>
        <p:spPr>
          <a:xfrm>
            <a:off x="11720984" y="6730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4" name="Freeform 24"/>
          <p:cNvSpPr/>
          <p:nvPr/>
        </p:nvSpPr>
        <p:spPr>
          <a:xfrm>
            <a:off x="6532596" y="89026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5" name="TextBox 25"/>
          <p:cNvSpPr txBox="1"/>
          <p:nvPr/>
        </p:nvSpPr>
        <p:spPr>
          <a:xfrm>
            <a:off x="3373582" y="957569"/>
            <a:ext cx="13885718" cy="3125003"/>
          </a:xfrm>
          <a:prstGeom prst="rect">
            <a:avLst/>
          </a:prstGeom>
        </p:spPr>
        <p:txBody>
          <a:bodyPr lIns="0" tIns="0" rIns="0" bIns="0" rtlCol="0" anchor="t">
            <a:spAutoFit/>
          </a:bodyPr>
          <a:lstStyle/>
          <a:p>
            <a:pPr algn="l">
              <a:lnSpc>
                <a:spcPts val="8302"/>
              </a:lnSpc>
            </a:pPr>
            <a:r>
              <a:rPr lang="en-US" sz="5930" b="1" spc="-118">
                <a:solidFill>
                  <a:srgbClr val="282828"/>
                </a:solidFill>
                <a:latin typeface="IBM Plex Sans Thai Bold"/>
                <a:ea typeface="IBM Plex Sans Thai Bold"/>
                <a:cs typeface="IBM Plex Sans Thai Bold"/>
                <a:sym typeface="IBM Plex Sans Thai Bold"/>
              </a:rPr>
              <a:t>Q4. What are the main safety features of your system?</a:t>
            </a:r>
          </a:p>
          <a:p>
            <a:pPr algn="l">
              <a:lnSpc>
                <a:spcPts val="8302"/>
              </a:lnSpc>
            </a:pPr>
            <a:endParaRPr lang="en-US" sz="5930" b="1" spc="-118">
              <a:solidFill>
                <a:srgbClr val="282828"/>
              </a:solidFill>
              <a:latin typeface="IBM Plex Sans Thai Bold"/>
              <a:ea typeface="IBM Plex Sans Thai Bold"/>
              <a:cs typeface="IBM Plex Sans Thai Bold"/>
              <a:sym typeface="IBM Plex Sans Thai Bold"/>
            </a:endParaRPr>
          </a:p>
        </p:txBody>
      </p:sp>
      <p:sp>
        <p:nvSpPr>
          <p:cNvPr id="26" name="TextBox 26"/>
          <p:cNvSpPr txBox="1"/>
          <p:nvPr/>
        </p:nvSpPr>
        <p:spPr>
          <a:xfrm>
            <a:off x="2602057" y="4025423"/>
            <a:ext cx="13658599" cy="2728067"/>
          </a:xfrm>
          <a:prstGeom prst="rect">
            <a:avLst/>
          </a:prstGeom>
        </p:spPr>
        <p:txBody>
          <a:bodyPr lIns="0" tIns="0" rIns="0" bIns="0" rtlCol="0" anchor="t">
            <a:spAutoFit/>
          </a:bodyPr>
          <a:lstStyle/>
          <a:p>
            <a:pPr algn="l">
              <a:lnSpc>
                <a:spcPts val="4341"/>
              </a:lnSpc>
            </a:pPr>
            <a:endParaRPr/>
          </a:p>
          <a:p>
            <a:pPr algn="l">
              <a:lnSpc>
                <a:spcPts val="4341"/>
              </a:lnSpc>
            </a:pPr>
            <a:r>
              <a:rPr lang="en-US" sz="3101">
                <a:solidFill>
                  <a:srgbClr val="282828"/>
                </a:solidFill>
                <a:latin typeface="IBM Plex Sans Thai"/>
                <a:ea typeface="IBM Plex Sans Thai"/>
                <a:cs typeface="IBM Plex Sans Thai"/>
                <a:sym typeface="IBM Plex Sans Thai"/>
              </a:rPr>
              <a:t>Answer: The system operates on low-voltage DC, uses relays to isolate high-current loads from the Arduino, protects inductive loads, separates water from electronics, and keeps the controller isolated from the actuator power supply.</a:t>
            </a:r>
          </a:p>
        </p:txBody>
      </p:sp>
      <p:sp>
        <p:nvSpPr>
          <p:cNvPr id="27" name="TextBox 27"/>
          <p:cNvSpPr txBox="1"/>
          <p:nvPr/>
        </p:nvSpPr>
        <p:spPr>
          <a:xfrm>
            <a:off x="16684489" y="448758"/>
            <a:ext cx="1149622" cy="1077218"/>
          </a:xfrm>
          <a:prstGeom prst="rect">
            <a:avLst/>
          </a:prstGeom>
        </p:spPr>
        <p:txBody>
          <a:bodyPr lIns="0" tIns="0" rIns="0" bIns="0" rtlCol="0" anchor="t">
            <a:spAutoFit/>
          </a:bodyPr>
          <a:lstStyle/>
          <a:p>
            <a:pPr algn="ctr">
              <a:lnSpc>
                <a:spcPts val="8392"/>
              </a:lnSpc>
            </a:pPr>
            <a:r>
              <a:rPr lang="en-US" sz="5994" b="1" spc="-119" dirty="0">
                <a:solidFill>
                  <a:srgbClr val="545454"/>
                </a:solidFill>
                <a:latin typeface="IBM Plex Sans Thai Bold"/>
                <a:ea typeface="IBM Plex Sans Thai Bold"/>
                <a:cs typeface="IBM Plex Sans Thai Bold"/>
                <a:sym typeface="IBM Plex Sans Thai Bold"/>
              </a:rPr>
              <a:t>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6E7E9"/>
        </a:solidFill>
        <a:effectLst/>
      </p:bgPr>
    </p:bg>
    <p:spTree>
      <p:nvGrpSpPr>
        <p:cNvPr id="1" name=""/>
        <p:cNvGrpSpPr/>
        <p:nvPr/>
      </p:nvGrpSpPr>
      <p:grpSpPr>
        <a:xfrm>
          <a:off x="0" y="0"/>
          <a:ext cx="0" cy="0"/>
          <a:chOff x="0" y="0"/>
          <a:chExt cx="0" cy="0"/>
        </a:xfrm>
      </p:grpSpPr>
      <p:grpSp>
        <p:nvGrpSpPr>
          <p:cNvPr id="2" name="Group 2"/>
          <p:cNvGrpSpPr/>
          <p:nvPr/>
        </p:nvGrpSpPr>
        <p:grpSpPr>
          <a:xfrm>
            <a:off x="11029950" y="9528897"/>
            <a:ext cx="14100464" cy="2314575"/>
            <a:chOff x="0" y="0"/>
            <a:chExt cx="3713702" cy="609600"/>
          </a:xfrm>
        </p:grpSpPr>
        <p:sp>
          <p:nvSpPr>
            <p:cNvPr id="3" name="Freeform 3"/>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4" name="TextBox 4"/>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438168" y="7214322"/>
            <a:ext cx="14100464" cy="2314575"/>
            <a:chOff x="0" y="0"/>
            <a:chExt cx="3713702" cy="609600"/>
          </a:xfrm>
        </p:grpSpPr>
        <p:sp>
          <p:nvSpPr>
            <p:cNvPr id="6" name="Freeform 6"/>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7" name="TextBox 7"/>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1019559" y="814387"/>
            <a:ext cx="14100464" cy="2314575"/>
            <a:chOff x="0" y="0"/>
            <a:chExt cx="3713702" cy="609600"/>
          </a:xfrm>
        </p:grpSpPr>
        <p:sp>
          <p:nvSpPr>
            <p:cNvPr id="9" name="Freeform 9"/>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10" name="TextBox 10"/>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7611341" y="-1500188"/>
            <a:ext cx="14100464" cy="2314575"/>
            <a:chOff x="0" y="0"/>
            <a:chExt cx="3713702" cy="609600"/>
          </a:xfrm>
        </p:grpSpPr>
        <p:sp>
          <p:nvSpPr>
            <p:cNvPr id="12" name="Freeform 12"/>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13" name="TextBox 13"/>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4112586" y="7985847"/>
            <a:ext cx="1543050" cy="771525"/>
            <a:chOff x="0" y="0"/>
            <a:chExt cx="812800" cy="406400"/>
          </a:xfrm>
        </p:grpSpPr>
        <p:sp>
          <p:nvSpPr>
            <p:cNvPr id="15" name="Freeform 15"/>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6" name="TextBox 16"/>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830532" y="1585912"/>
            <a:ext cx="1543050" cy="771525"/>
            <a:chOff x="0" y="0"/>
            <a:chExt cx="812800" cy="406400"/>
          </a:xfrm>
        </p:grpSpPr>
        <p:sp>
          <p:nvSpPr>
            <p:cNvPr id="18" name="Freeform 18"/>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9" name="TextBox 19"/>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sp>
        <p:nvSpPr>
          <p:cNvPr id="20" name="Freeform 20"/>
          <p:cNvSpPr/>
          <p:nvPr/>
        </p:nvSpPr>
        <p:spPr>
          <a:xfrm rot="-5400000">
            <a:off x="1550696" y="8418082"/>
            <a:ext cx="636444" cy="1680435"/>
          </a:xfrm>
          <a:custGeom>
            <a:avLst/>
            <a:gdLst/>
            <a:ahLst/>
            <a:cxnLst/>
            <a:rect l="l" t="t" r="r" b="b"/>
            <a:pathLst>
              <a:path w="636444" h="1680435">
                <a:moveTo>
                  <a:pt x="0" y="0"/>
                </a:moveTo>
                <a:lnTo>
                  <a:pt x="636444" y="0"/>
                </a:lnTo>
                <a:lnTo>
                  <a:pt x="636444" y="1680436"/>
                </a:lnTo>
                <a:lnTo>
                  <a:pt x="0" y="16804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Freeform 21"/>
          <p:cNvSpPr/>
          <p:nvPr/>
        </p:nvSpPr>
        <p:spPr>
          <a:xfrm>
            <a:off x="511066" y="2577221"/>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Freeform 22"/>
          <p:cNvSpPr/>
          <p:nvPr/>
        </p:nvSpPr>
        <p:spPr>
          <a:xfrm>
            <a:off x="16741666" y="6662580"/>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3" name="Freeform 23"/>
          <p:cNvSpPr/>
          <p:nvPr/>
        </p:nvSpPr>
        <p:spPr>
          <a:xfrm>
            <a:off x="11720984" y="6730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4" name="Freeform 24"/>
          <p:cNvSpPr/>
          <p:nvPr/>
        </p:nvSpPr>
        <p:spPr>
          <a:xfrm>
            <a:off x="6532596" y="89026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5" name="TextBox 25"/>
          <p:cNvSpPr txBox="1"/>
          <p:nvPr/>
        </p:nvSpPr>
        <p:spPr>
          <a:xfrm>
            <a:off x="3165764" y="661987"/>
            <a:ext cx="14914418" cy="4276105"/>
          </a:xfrm>
          <a:prstGeom prst="rect">
            <a:avLst/>
          </a:prstGeom>
        </p:spPr>
        <p:txBody>
          <a:bodyPr lIns="0" tIns="0" rIns="0" bIns="0" rtlCol="0" anchor="t">
            <a:spAutoFit/>
          </a:bodyPr>
          <a:lstStyle/>
          <a:p>
            <a:pPr algn="l">
              <a:lnSpc>
                <a:spcPts val="11371"/>
              </a:lnSpc>
            </a:pPr>
            <a:r>
              <a:rPr lang="en-US" sz="8122" b="1" spc="-162">
                <a:solidFill>
                  <a:srgbClr val="282828"/>
                </a:solidFill>
                <a:latin typeface="IBM Plex Sans Thai Bold"/>
                <a:ea typeface="IBM Plex Sans Thai Bold"/>
                <a:cs typeface="IBM Plex Sans Thai Bold"/>
                <a:sym typeface="IBM Plex Sans Thai Bold"/>
              </a:rPr>
              <a:t>Q5. For future, what improvements would you add?</a:t>
            </a:r>
          </a:p>
          <a:p>
            <a:pPr algn="l">
              <a:lnSpc>
                <a:spcPts val="11371"/>
              </a:lnSpc>
            </a:pPr>
            <a:r>
              <a:rPr lang="en-US" sz="8122" b="1" spc="-162">
                <a:solidFill>
                  <a:srgbClr val="282828"/>
                </a:solidFill>
                <a:latin typeface="IBM Plex Sans Thai Bold"/>
                <a:ea typeface="IBM Plex Sans Thai Bold"/>
                <a:cs typeface="IBM Plex Sans Thai Bold"/>
                <a:sym typeface="IBM Plex Sans Thai Bold"/>
              </a:rPr>
              <a:t> </a:t>
            </a:r>
          </a:p>
        </p:txBody>
      </p:sp>
      <p:sp>
        <p:nvSpPr>
          <p:cNvPr id="26" name="TextBox 26"/>
          <p:cNvSpPr txBox="1"/>
          <p:nvPr/>
        </p:nvSpPr>
        <p:spPr>
          <a:xfrm>
            <a:off x="2109386" y="4478120"/>
            <a:ext cx="12774725" cy="2555227"/>
          </a:xfrm>
          <a:prstGeom prst="rect">
            <a:avLst/>
          </a:prstGeom>
        </p:spPr>
        <p:txBody>
          <a:bodyPr lIns="0" tIns="0" rIns="0" bIns="0" rtlCol="0" anchor="t">
            <a:spAutoFit/>
          </a:bodyPr>
          <a:lstStyle/>
          <a:p>
            <a:pPr algn="l">
              <a:lnSpc>
                <a:spcPts val="4060"/>
              </a:lnSpc>
            </a:pPr>
            <a:endParaRPr/>
          </a:p>
          <a:p>
            <a:pPr algn="l">
              <a:lnSpc>
                <a:spcPts val="4060"/>
              </a:lnSpc>
            </a:pPr>
            <a:r>
              <a:rPr lang="en-US" sz="2900">
                <a:solidFill>
                  <a:srgbClr val="282828"/>
                </a:solidFill>
                <a:latin typeface="IBM Plex Sans Thai"/>
                <a:ea typeface="IBM Plex Sans Thai"/>
                <a:cs typeface="IBM Plex Sans Thai"/>
                <a:sym typeface="IBM Plex Sans Thai"/>
              </a:rPr>
              <a:t>Answer: We would replace the DHT11 with a more accurate sensor, add smoke and gas sensors, include Wi-Fi notifications, use an SD card and RTC for permanent logging, improve the load-cell calibration, and design a professional PCB.</a:t>
            </a:r>
          </a:p>
        </p:txBody>
      </p:sp>
      <p:sp>
        <p:nvSpPr>
          <p:cNvPr id="27" name="TextBox 27"/>
          <p:cNvSpPr txBox="1"/>
          <p:nvPr/>
        </p:nvSpPr>
        <p:spPr>
          <a:xfrm>
            <a:off x="16684489" y="448758"/>
            <a:ext cx="1149622" cy="1077218"/>
          </a:xfrm>
          <a:prstGeom prst="rect">
            <a:avLst/>
          </a:prstGeom>
        </p:spPr>
        <p:txBody>
          <a:bodyPr lIns="0" tIns="0" rIns="0" bIns="0" rtlCol="0" anchor="t">
            <a:spAutoFit/>
          </a:bodyPr>
          <a:lstStyle/>
          <a:p>
            <a:pPr algn="ctr">
              <a:lnSpc>
                <a:spcPts val="8392"/>
              </a:lnSpc>
            </a:pPr>
            <a:r>
              <a:rPr lang="en-US" sz="5994" b="1" spc="-119" dirty="0">
                <a:solidFill>
                  <a:srgbClr val="545454"/>
                </a:solidFill>
                <a:latin typeface="IBM Plex Sans Thai Bold"/>
                <a:ea typeface="IBM Plex Sans Thai Bold"/>
                <a:cs typeface="IBM Plex Sans Thai Bold"/>
                <a:sym typeface="IBM Plex Sans Thai Bold"/>
              </a:rPr>
              <a:t>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6E7E9"/>
        </a:solidFill>
        <a:effectLst/>
      </p:bgPr>
    </p:bg>
    <p:spTree>
      <p:nvGrpSpPr>
        <p:cNvPr id="1" name=""/>
        <p:cNvGrpSpPr/>
        <p:nvPr/>
      </p:nvGrpSpPr>
      <p:grpSpPr>
        <a:xfrm>
          <a:off x="0" y="0"/>
          <a:ext cx="0" cy="0"/>
          <a:chOff x="0" y="0"/>
          <a:chExt cx="0" cy="0"/>
        </a:xfrm>
      </p:grpSpPr>
      <p:grpSp>
        <p:nvGrpSpPr>
          <p:cNvPr id="2" name="Group 2"/>
          <p:cNvGrpSpPr/>
          <p:nvPr/>
        </p:nvGrpSpPr>
        <p:grpSpPr>
          <a:xfrm>
            <a:off x="11029950" y="9528897"/>
            <a:ext cx="14100464" cy="2314575"/>
            <a:chOff x="0" y="0"/>
            <a:chExt cx="3713702" cy="609600"/>
          </a:xfrm>
        </p:grpSpPr>
        <p:sp>
          <p:nvSpPr>
            <p:cNvPr id="3" name="Freeform 3"/>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4" name="TextBox 4"/>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438168" y="7214322"/>
            <a:ext cx="14100464" cy="2314575"/>
            <a:chOff x="0" y="0"/>
            <a:chExt cx="3713702" cy="609600"/>
          </a:xfrm>
        </p:grpSpPr>
        <p:sp>
          <p:nvSpPr>
            <p:cNvPr id="6" name="Freeform 6"/>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7" name="TextBox 7"/>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1019559" y="814387"/>
            <a:ext cx="14100464" cy="2314575"/>
            <a:chOff x="0" y="0"/>
            <a:chExt cx="3713702" cy="609600"/>
          </a:xfrm>
        </p:grpSpPr>
        <p:sp>
          <p:nvSpPr>
            <p:cNvPr id="9" name="Freeform 9"/>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10" name="TextBox 10"/>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7611341" y="-1500188"/>
            <a:ext cx="14100464" cy="2314575"/>
            <a:chOff x="0" y="0"/>
            <a:chExt cx="3713702" cy="609600"/>
          </a:xfrm>
        </p:grpSpPr>
        <p:sp>
          <p:nvSpPr>
            <p:cNvPr id="12" name="Freeform 12"/>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13" name="TextBox 13"/>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4112586" y="7985847"/>
            <a:ext cx="1543050" cy="771525"/>
            <a:chOff x="0" y="0"/>
            <a:chExt cx="812800" cy="406400"/>
          </a:xfrm>
        </p:grpSpPr>
        <p:sp>
          <p:nvSpPr>
            <p:cNvPr id="15" name="Freeform 15"/>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6" name="TextBox 16"/>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830532" y="1585912"/>
            <a:ext cx="1543050" cy="771525"/>
            <a:chOff x="0" y="0"/>
            <a:chExt cx="812800" cy="406400"/>
          </a:xfrm>
        </p:grpSpPr>
        <p:sp>
          <p:nvSpPr>
            <p:cNvPr id="18" name="Freeform 18"/>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9" name="TextBox 19"/>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sp>
        <p:nvSpPr>
          <p:cNvPr id="20" name="Freeform 20"/>
          <p:cNvSpPr/>
          <p:nvPr/>
        </p:nvSpPr>
        <p:spPr>
          <a:xfrm rot="-5400000">
            <a:off x="1550696" y="8418082"/>
            <a:ext cx="636444" cy="1680435"/>
          </a:xfrm>
          <a:custGeom>
            <a:avLst/>
            <a:gdLst/>
            <a:ahLst/>
            <a:cxnLst/>
            <a:rect l="l" t="t" r="r" b="b"/>
            <a:pathLst>
              <a:path w="636444" h="1680435">
                <a:moveTo>
                  <a:pt x="0" y="0"/>
                </a:moveTo>
                <a:lnTo>
                  <a:pt x="636444" y="0"/>
                </a:lnTo>
                <a:lnTo>
                  <a:pt x="636444" y="1680436"/>
                </a:lnTo>
                <a:lnTo>
                  <a:pt x="0" y="16804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Freeform 21"/>
          <p:cNvSpPr/>
          <p:nvPr/>
        </p:nvSpPr>
        <p:spPr>
          <a:xfrm>
            <a:off x="511066" y="2577221"/>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Freeform 22"/>
          <p:cNvSpPr/>
          <p:nvPr/>
        </p:nvSpPr>
        <p:spPr>
          <a:xfrm>
            <a:off x="16741666" y="6662580"/>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3" name="Freeform 23"/>
          <p:cNvSpPr/>
          <p:nvPr/>
        </p:nvSpPr>
        <p:spPr>
          <a:xfrm>
            <a:off x="11720984" y="6730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4" name="Freeform 24"/>
          <p:cNvSpPr/>
          <p:nvPr/>
        </p:nvSpPr>
        <p:spPr>
          <a:xfrm>
            <a:off x="6532596" y="89026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5" name="TextBox 25"/>
          <p:cNvSpPr txBox="1"/>
          <p:nvPr/>
        </p:nvSpPr>
        <p:spPr>
          <a:xfrm>
            <a:off x="2256559" y="363033"/>
            <a:ext cx="17546782" cy="7170803"/>
          </a:xfrm>
          <a:prstGeom prst="rect">
            <a:avLst/>
          </a:prstGeom>
        </p:spPr>
        <p:txBody>
          <a:bodyPr lIns="0" tIns="0" rIns="0" bIns="0" rtlCol="0" anchor="t">
            <a:spAutoFit/>
          </a:bodyPr>
          <a:lstStyle/>
          <a:p>
            <a:pPr algn="l">
              <a:lnSpc>
                <a:spcPts val="14258"/>
              </a:lnSpc>
            </a:pPr>
            <a:r>
              <a:rPr lang="en-US" sz="10184" b="1" spc="-203">
                <a:solidFill>
                  <a:srgbClr val="282828"/>
                </a:solidFill>
                <a:latin typeface="IBM Plex Sans Thai Bold"/>
                <a:ea typeface="IBM Plex Sans Thai Bold"/>
                <a:cs typeface="IBM Plex Sans Thai Bold"/>
                <a:sym typeface="IBM Plex Sans Thai Bold"/>
              </a:rPr>
              <a:t>Q6. How did you verify that your sampling rate was appropriate?</a:t>
            </a:r>
          </a:p>
          <a:p>
            <a:pPr algn="l">
              <a:lnSpc>
                <a:spcPts val="14258"/>
              </a:lnSpc>
            </a:pPr>
            <a:endParaRPr lang="en-US" sz="10184" b="1" spc="-203">
              <a:solidFill>
                <a:srgbClr val="282828"/>
              </a:solidFill>
              <a:latin typeface="IBM Plex Sans Thai Bold"/>
              <a:ea typeface="IBM Plex Sans Thai Bold"/>
              <a:cs typeface="IBM Plex Sans Thai Bold"/>
              <a:sym typeface="IBM Plex Sans Thai Bold"/>
            </a:endParaRPr>
          </a:p>
        </p:txBody>
      </p:sp>
      <p:sp>
        <p:nvSpPr>
          <p:cNvPr id="26" name="TextBox 26"/>
          <p:cNvSpPr txBox="1"/>
          <p:nvPr/>
        </p:nvSpPr>
        <p:spPr>
          <a:xfrm>
            <a:off x="1546334" y="5430620"/>
            <a:ext cx="12774725" cy="2555227"/>
          </a:xfrm>
          <a:prstGeom prst="rect">
            <a:avLst/>
          </a:prstGeom>
        </p:spPr>
        <p:txBody>
          <a:bodyPr lIns="0" tIns="0" rIns="0" bIns="0" rtlCol="0" anchor="t">
            <a:spAutoFit/>
          </a:bodyPr>
          <a:lstStyle/>
          <a:p>
            <a:pPr algn="l">
              <a:lnSpc>
                <a:spcPts val="4060"/>
              </a:lnSpc>
            </a:pPr>
            <a:endParaRPr/>
          </a:p>
          <a:p>
            <a:pPr algn="l">
              <a:lnSpc>
                <a:spcPts val="4060"/>
              </a:lnSpc>
            </a:pPr>
            <a:r>
              <a:rPr lang="en-US" sz="2900">
                <a:solidFill>
                  <a:srgbClr val="282828"/>
                </a:solidFill>
                <a:latin typeface="IBM Plex Sans Thai"/>
                <a:ea typeface="IBM Plex Sans Thai"/>
                <a:cs typeface="IBM Plex Sans Thai"/>
                <a:sym typeface="IBM Plex Sans Thai"/>
              </a:rPr>
              <a:t>Answer: Fast-changing signals such as infrared detection are read continuously, while slower environmental sensors like DHT11 are sampled every five seconds. This provides sufficient accuracy while reducing unnecessary processing.</a:t>
            </a:r>
          </a:p>
        </p:txBody>
      </p:sp>
      <p:sp>
        <p:nvSpPr>
          <p:cNvPr id="27" name="TextBox 27"/>
          <p:cNvSpPr txBox="1"/>
          <p:nvPr/>
        </p:nvSpPr>
        <p:spPr>
          <a:xfrm>
            <a:off x="16553106" y="-145797"/>
            <a:ext cx="1149622" cy="1077218"/>
          </a:xfrm>
          <a:prstGeom prst="rect">
            <a:avLst/>
          </a:prstGeom>
        </p:spPr>
        <p:txBody>
          <a:bodyPr lIns="0" tIns="0" rIns="0" bIns="0" rtlCol="0" anchor="t">
            <a:spAutoFit/>
          </a:bodyPr>
          <a:lstStyle/>
          <a:p>
            <a:pPr algn="ctr">
              <a:lnSpc>
                <a:spcPts val="8392"/>
              </a:lnSpc>
            </a:pPr>
            <a:r>
              <a:rPr lang="en-US" sz="5994" b="1" spc="-119" dirty="0">
                <a:solidFill>
                  <a:srgbClr val="545454"/>
                </a:solidFill>
                <a:latin typeface="IBM Plex Sans Thai Bold"/>
                <a:ea typeface="IBM Plex Sans Thai Bold"/>
                <a:cs typeface="IBM Plex Sans Thai Bold"/>
                <a:sym typeface="IBM Plex Sans Thai Bold"/>
              </a:rPr>
              <a:t>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6E7E9"/>
        </a:solidFill>
        <a:effectLst/>
      </p:bgPr>
    </p:bg>
    <p:spTree>
      <p:nvGrpSpPr>
        <p:cNvPr id="1" name=""/>
        <p:cNvGrpSpPr/>
        <p:nvPr/>
      </p:nvGrpSpPr>
      <p:grpSpPr>
        <a:xfrm>
          <a:off x="0" y="0"/>
          <a:ext cx="0" cy="0"/>
          <a:chOff x="0" y="0"/>
          <a:chExt cx="0" cy="0"/>
        </a:xfrm>
      </p:grpSpPr>
      <p:grpSp>
        <p:nvGrpSpPr>
          <p:cNvPr id="2" name="Group 2"/>
          <p:cNvGrpSpPr/>
          <p:nvPr/>
        </p:nvGrpSpPr>
        <p:grpSpPr>
          <a:xfrm>
            <a:off x="11029950" y="9528897"/>
            <a:ext cx="14100464" cy="2314575"/>
            <a:chOff x="0" y="0"/>
            <a:chExt cx="3713702" cy="609600"/>
          </a:xfrm>
        </p:grpSpPr>
        <p:sp>
          <p:nvSpPr>
            <p:cNvPr id="3" name="Freeform 3"/>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4" name="TextBox 4"/>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438168" y="7214322"/>
            <a:ext cx="14100464" cy="2314575"/>
            <a:chOff x="0" y="0"/>
            <a:chExt cx="3713702" cy="609600"/>
          </a:xfrm>
        </p:grpSpPr>
        <p:sp>
          <p:nvSpPr>
            <p:cNvPr id="6" name="Freeform 6"/>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7" name="TextBox 7"/>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1019559" y="814387"/>
            <a:ext cx="14100464" cy="2314575"/>
            <a:chOff x="0" y="0"/>
            <a:chExt cx="3713702" cy="609600"/>
          </a:xfrm>
        </p:grpSpPr>
        <p:sp>
          <p:nvSpPr>
            <p:cNvPr id="9" name="Freeform 9"/>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10" name="TextBox 10"/>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7611341" y="-1500188"/>
            <a:ext cx="14100464" cy="2314575"/>
            <a:chOff x="0" y="0"/>
            <a:chExt cx="3713702" cy="609600"/>
          </a:xfrm>
        </p:grpSpPr>
        <p:sp>
          <p:nvSpPr>
            <p:cNvPr id="12" name="Freeform 12"/>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13" name="TextBox 13"/>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4112586" y="7985847"/>
            <a:ext cx="1543050" cy="771525"/>
            <a:chOff x="0" y="0"/>
            <a:chExt cx="812800" cy="406400"/>
          </a:xfrm>
        </p:grpSpPr>
        <p:sp>
          <p:nvSpPr>
            <p:cNvPr id="15" name="Freeform 15"/>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6" name="TextBox 16"/>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830532" y="1585912"/>
            <a:ext cx="1543050" cy="771525"/>
            <a:chOff x="0" y="0"/>
            <a:chExt cx="812800" cy="406400"/>
          </a:xfrm>
        </p:grpSpPr>
        <p:sp>
          <p:nvSpPr>
            <p:cNvPr id="18" name="Freeform 18"/>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9" name="TextBox 19"/>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sp>
        <p:nvSpPr>
          <p:cNvPr id="20" name="Freeform 20"/>
          <p:cNvSpPr/>
          <p:nvPr/>
        </p:nvSpPr>
        <p:spPr>
          <a:xfrm rot="-5400000">
            <a:off x="1550696" y="8418082"/>
            <a:ext cx="636444" cy="1680435"/>
          </a:xfrm>
          <a:custGeom>
            <a:avLst/>
            <a:gdLst/>
            <a:ahLst/>
            <a:cxnLst/>
            <a:rect l="l" t="t" r="r" b="b"/>
            <a:pathLst>
              <a:path w="636444" h="1680435">
                <a:moveTo>
                  <a:pt x="0" y="0"/>
                </a:moveTo>
                <a:lnTo>
                  <a:pt x="636444" y="0"/>
                </a:lnTo>
                <a:lnTo>
                  <a:pt x="636444" y="1680436"/>
                </a:lnTo>
                <a:lnTo>
                  <a:pt x="0" y="16804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Freeform 21"/>
          <p:cNvSpPr/>
          <p:nvPr/>
        </p:nvSpPr>
        <p:spPr>
          <a:xfrm>
            <a:off x="511066" y="2577221"/>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Freeform 22"/>
          <p:cNvSpPr/>
          <p:nvPr/>
        </p:nvSpPr>
        <p:spPr>
          <a:xfrm>
            <a:off x="16741666" y="6662580"/>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3" name="Freeform 23"/>
          <p:cNvSpPr/>
          <p:nvPr/>
        </p:nvSpPr>
        <p:spPr>
          <a:xfrm>
            <a:off x="11720984" y="6730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4" name="Freeform 24"/>
          <p:cNvSpPr/>
          <p:nvPr/>
        </p:nvSpPr>
        <p:spPr>
          <a:xfrm>
            <a:off x="6532596" y="89026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5" name="TextBox 25"/>
          <p:cNvSpPr txBox="1"/>
          <p:nvPr/>
        </p:nvSpPr>
        <p:spPr>
          <a:xfrm>
            <a:off x="3373582" y="697602"/>
            <a:ext cx="14914418" cy="5361053"/>
          </a:xfrm>
          <a:prstGeom prst="rect">
            <a:avLst/>
          </a:prstGeom>
        </p:spPr>
        <p:txBody>
          <a:bodyPr lIns="0" tIns="0" rIns="0" bIns="0" rtlCol="0" anchor="t">
            <a:spAutoFit/>
          </a:bodyPr>
          <a:lstStyle/>
          <a:p>
            <a:pPr algn="l">
              <a:lnSpc>
                <a:spcPts val="14258"/>
              </a:lnSpc>
            </a:pPr>
            <a:r>
              <a:rPr lang="en-US" sz="10184" b="1" spc="-203">
                <a:solidFill>
                  <a:srgbClr val="282828"/>
                </a:solidFill>
                <a:latin typeface="IBM Plex Sans Thai Bold"/>
                <a:ea typeface="IBM Plex Sans Thai Bold"/>
                <a:cs typeface="IBM Plex Sans Thai Bold"/>
                <a:sym typeface="IBM Plex Sans Thai Bold"/>
              </a:rPr>
              <a:t>Q7. Why did you use relays?</a:t>
            </a:r>
          </a:p>
          <a:p>
            <a:pPr algn="l">
              <a:lnSpc>
                <a:spcPts val="14258"/>
              </a:lnSpc>
            </a:pPr>
            <a:endParaRPr lang="en-US" sz="10184" b="1" spc="-203">
              <a:solidFill>
                <a:srgbClr val="282828"/>
              </a:solidFill>
              <a:latin typeface="IBM Plex Sans Thai Bold"/>
              <a:ea typeface="IBM Plex Sans Thai Bold"/>
              <a:cs typeface="IBM Plex Sans Thai Bold"/>
              <a:sym typeface="IBM Plex Sans Thai Bold"/>
            </a:endParaRPr>
          </a:p>
        </p:txBody>
      </p:sp>
      <p:sp>
        <p:nvSpPr>
          <p:cNvPr id="26" name="TextBox 26"/>
          <p:cNvSpPr txBox="1"/>
          <p:nvPr/>
        </p:nvSpPr>
        <p:spPr>
          <a:xfrm>
            <a:off x="1354357" y="4258430"/>
            <a:ext cx="15579286" cy="1858638"/>
          </a:xfrm>
          <a:prstGeom prst="rect">
            <a:avLst/>
          </a:prstGeom>
        </p:spPr>
        <p:txBody>
          <a:bodyPr lIns="0" tIns="0" rIns="0" bIns="0" rtlCol="0" anchor="t">
            <a:spAutoFit/>
          </a:bodyPr>
          <a:lstStyle/>
          <a:p>
            <a:pPr algn="l">
              <a:lnSpc>
                <a:spcPts val="4952"/>
              </a:lnSpc>
            </a:pPr>
            <a:endParaRPr/>
          </a:p>
          <a:p>
            <a:pPr algn="l">
              <a:lnSpc>
                <a:spcPts val="4952"/>
              </a:lnSpc>
            </a:pPr>
            <a:r>
              <a:rPr lang="en-US" sz="3537">
                <a:solidFill>
                  <a:srgbClr val="282828"/>
                </a:solidFill>
                <a:latin typeface="IBM Plex Sans Thai"/>
                <a:ea typeface="IBM Plex Sans Thai"/>
                <a:cs typeface="IBM Plex Sans Thai"/>
                <a:sym typeface="IBM Plex Sans Thai"/>
              </a:rPr>
              <a:t>Answer: Relays electrically isolate the Arduino from high-current loads such as the pump, fan, and humidifier, protecting the controller.</a:t>
            </a:r>
          </a:p>
        </p:txBody>
      </p:sp>
      <p:sp>
        <p:nvSpPr>
          <p:cNvPr id="27" name="TextBox 27"/>
          <p:cNvSpPr txBox="1"/>
          <p:nvPr/>
        </p:nvSpPr>
        <p:spPr>
          <a:xfrm>
            <a:off x="16684489" y="448758"/>
            <a:ext cx="1149622" cy="1077218"/>
          </a:xfrm>
          <a:prstGeom prst="rect">
            <a:avLst/>
          </a:prstGeom>
        </p:spPr>
        <p:txBody>
          <a:bodyPr lIns="0" tIns="0" rIns="0" bIns="0" rtlCol="0" anchor="t">
            <a:spAutoFit/>
          </a:bodyPr>
          <a:lstStyle/>
          <a:p>
            <a:pPr algn="ctr">
              <a:lnSpc>
                <a:spcPts val="8392"/>
              </a:lnSpc>
            </a:pPr>
            <a:r>
              <a:rPr lang="en-US" sz="5994" b="1" spc="-119" dirty="0">
                <a:solidFill>
                  <a:srgbClr val="545454"/>
                </a:solidFill>
                <a:latin typeface="IBM Plex Sans Thai Bold"/>
                <a:ea typeface="IBM Plex Sans Thai Bold"/>
                <a:cs typeface="IBM Plex Sans Thai Bold"/>
                <a:sym typeface="IBM Plex Sans Thai Bold"/>
              </a:rPr>
              <a:t>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6E7E9"/>
        </a:solidFill>
        <a:effectLst/>
      </p:bgPr>
    </p:bg>
    <p:spTree>
      <p:nvGrpSpPr>
        <p:cNvPr id="1" name=""/>
        <p:cNvGrpSpPr/>
        <p:nvPr/>
      </p:nvGrpSpPr>
      <p:grpSpPr>
        <a:xfrm>
          <a:off x="0" y="0"/>
          <a:ext cx="0" cy="0"/>
          <a:chOff x="0" y="0"/>
          <a:chExt cx="0" cy="0"/>
        </a:xfrm>
      </p:grpSpPr>
      <p:grpSp>
        <p:nvGrpSpPr>
          <p:cNvPr id="2" name="Group 2"/>
          <p:cNvGrpSpPr/>
          <p:nvPr/>
        </p:nvGrpSpPr>
        <p:grpSpPr>
          <a:xfrm>
            <a:off x="11029950" y="9528897"/>
            <a:ext cx="14100464" cy="2314575"/>
            <a:chOff x="0" y="0"/>
            <a:chExt cx="3713702" cy="609600"/>
          </a:xfrm>
        </p:grpSpPr>
        <p:sp>
          <p:nvSpPr>
            <p:cNvPr id="3" name="Freeform 3"/>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4" name="TextBox 4"/>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438168" y="7214322"/>
            <a:ext cx="14100464" cy="2314575"/>
            <a:chOff x="0" y="0"/>
            <a:chExt cx="3713702" cy="609600"/>
          </a:xfrm>
        </p:grpSpPr>
        <p:sp>
          <p:nvSpPr>
            <p:cNvPr id="6" name="Freeform 6"/>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7" name="TextBox 7"/>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1019559" y="814387"/>
            <a:ext cx="14100464" cy="2314575"/>
            <a:chOff x="0" y="0"/>
            <a:chExt cx="3713702" cy="609600"/>
          </a:xfrm>
        </p:grpSpPr>
        <p:sp>
          <p:nvSpPr>
            <p:cNvPr id="9" name="Freeform 9"/>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10" name="TextBox 10"/>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7611341" y="-1500188"/>
            <a:ext cx="14100464" cy="2314575"/>
            <a:chOff x="0" y="0"/>
            <a:chExt cx="3713702" cy="609600"/>
          </a:xfrm>
        </p:grpSpPr>
        <p:sp>
          <p:nvSpPr>
            <p:cNvPr id="12" name="Freeform 12"/>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13" name="TextBox 13"/>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4112586" y="7985847"/>
            <a:ext cx="1543050" cy="771525"/>
            <a:chOff x="0" y="0"/>
            <a:chExt cx="812800" cy="406400"/>
          </a:xfrm>
        </p:grpSpPr>
        <p:sp>
          <p:nvSpPr>
            <p:cNvPr id="15" name="Freeform 15"/>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6" name="TextBox 16"/>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830532" y="1585912"/>
            <a:ext cx="1543050" cy="771525"/>
            <a:chOff x="0" y="0"/>
            <a:chExt cx="812800" cy="406400"/>
          </a:xfrm>
        </p:grpSpPr>
        <p:sp>
          <p:nvSpPr>
            <p:cNvPr id="18" name="Freeform 18"/>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9" name="TextBox 19"/>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sp>
        <p:nvSpPr>
          <p:cNvPr id="20" name="Freeform 20"/>
          <p:cNvSpPr/>
          <p:nvPr/>
        </p:nvSpPr>
        <p:spPr>
          <a:xfrm rot="-5400000">
            <a:off x="1550696" y="8418082"/>
            <a:ext cx="636444" cy="1680435"/>
          </a:xfrm>
          <a:custGeom>
            <a:avLst/>
            <a:gdLst/>
            <a:ahLst/>
            <a:cxnLst/>
            <a:rect l="l" t="t" r="r" b="b"/>
            <a:pathLst>
              <a:path w="636444" h="1680435">
                <a:moveTo>
                  <a:pt x="0" y="0"/>
                </a:moveTo>
                <a:lnTo>
                  <a:pt x="636444" y="0"/>
                </a:lnTo>
                <a:lnTo>
                  <a:pt x="636444" y="1680436"/>
                </a:lnTo>
                <a:lnTo>
                  <a:pt x="0" y="16804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Freeform 21"/>
          <p:cNvSpPr/>
          <p:nvPr/>
        </p:nvSpPr>
        <p:spPr>
          <a:xfrm>
            <a:off x="511066" y="2577221"/>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Freeform 22"/>
          <p:cNvSpPr/>
          <p:nvPr/>
        </p:nvSpPr>
        <p:spPr>
          <a:xfrm>
            <a:off x="16741666" y="6662580"/>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3" name="Freeform 23"/>
          <p:cNvSpPr/>
          <p:nvPr/>
        </p:nvSpPr>
        <p:spPr>
          <a:xfrm>
            <a:off x="11720984" y="6730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4" name="Freeform 24"/>
          <p:cNvSpPr/>
          <p:nvPr/>
        </p:nvSpPr>
        <p:spPr>
          <a:xfrm>
            <a:off x="6532596" y="89026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5" name="TextBox 25"/>
          <p:cNvSpPr txBox="1"/>
          <p:nvPr/>
        </p:nvSpPr>
        <p:spPr>
          <a:xfrm>
            <a:off x="3373582" y="697602"/>
            <a:ext cx="14914418" cy="5501506"/>
          </a:xfrm>
          <a:prstGeom prst="rect">
            <a:avLst/>
          </a:prstGeom>
        </p:spPr>
        <p:txBody>
          <a:bodyPr lIns="0" tIns="0" rIns="0" bIns="0" rtlCol="0" anchor="t">
            <a:spAutoFit/>
          </a:bodyPr>
          <a:lstStyle/>
          <a:p>
            <a:pPr algn="l">
              <a:lnSpc>
                <a:spcPts val="14258"/>
              </a:lnSpc>
            </a:pPr>
            <a:r>
              <a:rPr lang="en-US" sz="10184" b="1" spc="-203" dirty="0">
                <a:solidFill>
                  <a:srgbClr val="282828"/>
                </a:solidFill>
                <a:latin typeface="IBM Plex Sans Thai Bold"/>
                <a:ea typeface="IBM Plex Sans Thai Bold"/>
                <a:cs typeface="IBM Plex Sans Thai Bold"/>
                <a:sym typeface="IBM Plex Sans Thai Bold"/>
              </a:rPr>
              <a:t>Q8. Which parts of your project make it reliable?</a:t>
            </a:r>
          </a:p>
          <a:p>
            <a:pPr algn="l">
              <a:lnSpc>
                <a:spcPts val="14258"/>
              </a:lnSpc>
            </a:pPr>
            <a:endParaRPr lang="en-US" sz="10184" b="1" spc="-203" dirty="0">
              <a:solidFill>
                <a:srgbClr val="282828"/>
              </a:solidFill>
              <a:latin typeface="IBM Plex Sans Thai Bold"/>
              <a:ea typeface="IBM Plex Sans Thai Bold"/>
              <a:cs typeface="IBM Plex Sans Thai Bold"/>
              <a:sym typeface="IBM Plex Sans Thai Bold"/>
            </a:endParaRPr>
          </a:p>
        </p:txBody>
      </p:sp>
      <p:sp>
        <p:nvSpPr>
          <p:cNvPr id="26" name="TextBox 26"/>
          <p:cNvSpPr txBox="1"/>
          <p:nvPr/>
        </p:nvSpPr>
        <p:spPr>
          <a:xfrm>
            <a:off x="2602057" y="4752466"/>
            <a:ext cx="12774725" cy="2040877"/>
          </a:xfrm>
          <a:prstGeom prst="rect">
            <a:avLst/>
          </a:prstGeom>
        </p:spPr>
        <p:txBody>
          <a:bodyPr lIns="0" tIns="0" rIns="0" bIns="0" rtlCol="0" anchor="t">
            <a:spAutoFit/>
          </a:bodyPr>
          <a:lstStyle/>
          <a:p>
            <a:pPr algn="l">
              <a:lnSpc>
                <a:spcPts val="4060"/>
              </a:lnSpc>
            </a:pPr>
            <a:endParaRPr/>
          </a:p>
          <a:p>
            <a:pPr algn="l">
              <a:lnSpc>
                <a:spcPts val="4060"/>
              </a:lnSpc>
            </a:pPr>
            <a:r>
              <a:rPr lang="en-US" sz="2900">
                <a:solidFill>
                  <a:srgbClr val="282828"/>
                </a:solidFill>
                <a:latin typeface="IBM Plex Sans Thai"/>
                <a:ea typeface="IBM Plex Sans Thai"/>
                <a:cs typeface="IBM Plex Sans Thai"/>
                <a:sym typeface="IBM Plex Sans Thai"/>
              </a:rPr>
              <a:t>Answer: Reliability is improved through dual-sensor entry confirmation, non-blocking software, finite-state-machine control, hysteresis for fan operation, relay isolation, timestamped logging, and automatic fault detection.</a:t>
            </a:r>
          </a:p>
        </p:txBody>
      </p:sp>
      <p:sp>
        <p:nvSpPr>
          <p:cNvPr id="27" name="TextBox 27"/>
          <p:cNvSpPr txBox="1"/>
          <p:nvPr/>
        </p:nvSpPr>
        <p:spPr>
          <a:xfrm>
            <a:off x="16684489" y="448758"/>
            <a:ext cx="1149622" cy="1077218"/>
          </a:xfrm>
          <a:prstGeom prst="rect">
            <a:avLst/>
          </a:prstGeom>
        </p:spPr>
        <p:txBody>
          <a:bodyPr lIns="0" tIns="0" rIns="0" bIns="0" rtlCol="0" anchor="t">
            <a:spAutoFit/>
          </a:bodyPr>
          <a:lstStyle/>
          <a:p>
            <a:pPr algn="ctr">
              <a:lnSpc>
                <a:spcPts val="8392"/>
              </a:lnSpc>
            </a:pPr>
            <a:r>
              <a:rPr lang="en-US" sz="5994" b="1" spc="-119" dirty="0">
                <a:solidFill>
                  <a:srgbClr val="545454"/>
                </a:solidFill>
                <a:latin typeface="IBM Plex Sans Thai Bold"/>
                <a:ea typeface="IBM Plex Sans Thai Bold"/>
                <a:cs typeface="IBM Plex Sans Thai Bold"/>
                <a:sym typeface="IBM Plex Sans Thai Bold"/>
              </a:rPr>
              <a:t>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6E7E9"/>
        </a:solidFill>
        <a:effectLst/>
      </p:bgPr>
    </p:bg>
    <p:spTree>
      <p:nvGrpSpPr>
        <p:cNvPr id="1" name=""/>
        <p:cNvGrpSpPr/>
        <p:nvPr/>
      </p:nvGrpSpPr>
      <p:grpSpPr>
        <a:xfrm>
          <a:off x="0" y="0"/>
          <a:ext cx="0" cy="0"/>
          <a:chOff x="0" y="0"/>
          <a:chExt cx="0" cy="0"/>
        </a:xfrm>
      </p:grpSpPr>
      <p:grpSp>
        <p:nvGrpSpPr>
          <p:cNvPr id="2" name="Group 2"/>
          <p:cNvGrpSpPr/>
          <p:nvPr/>
        </p:nvGrpSpPr>
        <p:grpSpPr>
          <a:xfrm>
            <a:off x="11029950" y="9528897"/>
            <a:ext cx="14100464" cy="2314575"/>
            <a:chOff x="0" y="0"/>
            <a:chExt cx="3713702" cy="609600"/>
          </a:xfrm>
        </p:grpSpPr>
        <p:sp>
          <p:nvSpPr>
            <p:cNvPr id="3" name="Freeform 3"/>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4" name="TextBox 4"/>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438168" y="7214322"/>
            <a:ext cx="14100464" cy="2314575"/>
            <a:chOff x="0" y="0"/>
            <a:chExt cx="3713702" cy="609600"/>
          </a:xfrm>
        </p:grpSpPr>
        <p:sp>
          <p:nvSpPr>
            <p:cNvPr id="6" name="Freeform 6"/>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7" name="TextBox 7"/>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1019559" y="814387"/>
            <a:ext cx="14100464" cy="2314575"/>
            <a:chOff x="0" y="0"/>
            <a:chExt cx="3713702" cy="609600"/>
          </a:xfrm>
        </p:grpSpPr>
        <p:sp>
          <p:nvSpPr>
            <p:cNvPr id="9" name="Freeform 9"/>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10" name="TextBox 10"/>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7611341" y="-1500188"/>
            <a:ext cx="14100464" cy="2314575"/>
            <a:chOff x="0" y="0"/>
            <a:chExt cx="3713702" cy="609600"/>
          </a:xfrm>
        </p:grpSpPr>
        <p:sp>
          <p:nvSpPr>
            <p:cNvPr id="12" name="Freeform 12"/>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13" name="TextBox 13"/>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4112586" y="7985847"/>
            <a:ext cx="1543050" cy="771525"/>
            <a:chOff x="0" y="0"/>
            <a:chExt cx="812800" cy="406400"/>
          </a:xfrm>
        </p:grpSpPr>
        <p:sp>
          <p:nvSpPr>
            <p:cNvPr id="15" name="Freeform 15"/>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6" name="TextBox 16"/>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830532" y="1585912"/>
            <a:ext cx="1543050" cy="771525"/>
            <a:chOff x="0" y="0"/>
            <a:chExt cx="812800" cy="406400"/>
          </a:xfrm>
        </p:grpSpPr>
        <p:sp>
          <p:nvSpPr>
            <p:cNvPr id="18" name="Freeform 18"/>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9" name="TextBox 19"/>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sp>
        <p:nvSpPr>
          <p:cNvPr id="20" name="Freeform 20"/>
          <p:cNvSpPr/>
          <p:nvPr/>
        </p:nvSpPr>
        <p:spPr>
          <a:xfrm rot="-5400000">
            <a:off x="1550696" y="8418082"/>
            <a:ext cx="636444" cy="1680435"/>
          </a:xfrm>
          <a:custGeom>
            <a:avLst/>
            <a:gdLst/>
            <a:ahLst/>
            <a:cxnLst/>
            <a:rect l="l" t="t" r="r" b="b"/>
            <a:pathLst>
              <a:path w="636444" h="1680435">
                <a:moveTo>
                  <a:pt x="0" y="0"/>
                </a:moveTo>
                <a:lnTo>
                  <a:pt x="636444" y="0"/>
                </a:lnTo>
                <a:lnTo>
                  <a:pt x="636444" y="1680436"/>
                </a:lnTo>
                <a:lnTo>
                  <a:pt x="0" y="16804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Freeform 21"/>
          <p:cNvSpPr/>
          <p:nvPr/>
        </p:nvSpPr>
        <p:spPr>
          <a:xfrm>
            <a:off x="511066" y="2577221"/>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Freeform 22"/>
          <p:cNvSpPr/>
          <p:nvPr/>
        </p:nvSpPr>
        <p:spPr>
          <a:xfrm>
            <a:off x="16741666" y="6662580"/>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3" name="Freeform 23"/>
          <p:cNvSpPr/>
          <p:nvPr/>
        </p:nvSpPr>
        <p:spPr>
          <a:xfrm>
            <a:off x="11720984" y="6730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4" name="Freeform 24"/>
          <p:cNvSpPr/>
          <p:nvPr/>
        </p:nvSpPr>
        <p:spPr>
          <a:xfrm>
            <a:off x="6532596" y="89026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5" name="TextBox 25"/>
          <p:cNvSpPr txBox="1"/>
          <p:nvPr/>
        </p:nvSpPr>
        <p:spPr>
          <a:xfrm>
            <a:off x="741218" y="363033"/>
            <a:ext cx="17338964" cy="7335341"/>
          </a:xfrm>
          <a:prstGeom prst="rect">
            <a:avLst/>
          </a:prstGeom>
        </p:spPr>
        <p:txBody>
          <a:bodyPr lIns="0" tIns="0" rIns="0" bIns="0" rtlCol="0" anchor="t">
            <a:spAutoFit/>
          </a:bodyPr>
          <a:lstStyle/>
          <a:p>
            <a:pPr algn="l">
              <a:lnSpc>
                <a:spcPts val="14258"/>
              </a:lnSpc>
            </a:pPr>
            <a:r>
              <a:rPr lang="en-US" sz="10184" b="1" spc="-203" dirty="0">
                <a:solidFill>
                  <a:srgbClr val="282828"/>
                </a:solidFill>
                <a:latin typeface="IBM Plex Sans Thai Bold"/>
                <a:ea typeface="IBM Plex Sans Thai Bold"/>
                <a:cs typeface="IBM Plex Sans Thai Bold"/>
                <a:sym typeface="IBM Plex Sans Thai Bold"/>
              </a:rPr>
              <a:t>Q9. How do you guarantee that one subsystem does not interfere with the other?</a:t>
            </a:r>
          </a:p>
          <a:p>
            <a:pPr algn="l">
              <a:lnSpc>
                <a:spcPts val="14258"/>
              </a:lnSpc>
            </a:pPr>
            <a:r>
              <a:rPr lang="en-US" sz="10184" b="1" spc="-203" dirty="0">
                <a:solidFill>
                  <a:srgbClr val="282828"/>
                </a:solidFill>
                <a:latin typeface="IBM Plex Sans Thai Bold"/>
                <a:ea typeface="IBM Plex Sans Thai Bold"/>
                <a:cs typeface="IBM Plex Sans Thai Bold"/>
                <a:sym typeface="IBM Plex Sans Thai Bold"/>
              </a:rPr>
              <a:t> </a:t>
            </a:r>
          </a:p>
        </p:txBody>
      </p:sp>
      <p:sp>
        <p:nvSpPr>
          <p:cNvPr id="26" name="TextBox 26"/>
          <p:cNvSpPr txBox="1"/>
          <p:nvPr/>
        </p:nvSpPr>
        <p:spPr>
          <a:xfrm>
            <a:off x="482180" y="5816382"/>
            <a:ext cx="12774725" cy="2040877"/>
          </a:xfrm>
          <a:prstGeom prst="rect">
            <a:avLst/>
          </a:prstGeom>
        </p:spPr>
        <p:txBody>
          <a:bodyPr lIns="0" tIns="0" rIns="0" bIns="0" rtlCol="0" anchor="t">
            <a:spAutoFit/>
          </a:bodyPr>
          <a:lstStyle/>
          <a:p>
            <a:pPr algn="l">
              <a:lnSpc>
                <a:spcPts val="4060"/>
              </a:lnSpc>
            </a:pPr>
            <a:endParaRPr/>
          </a:p>
          <a:p>
            <a:pPr algn="l">
              <a:lnSpc>
                <a:spcPts val="4060"/>
              </a:lnSpc>
            </a:pPr>
            <a:r>
              <a:rPr lang="en-US" sz="2900">
                <a:solidFill>
                  <a:srgbClr val="282828"/>
                </a:solidFill>
                <a:latin typeface="IBM Plex Sans Thai"/>
                <a:ea typeface="IBM Plex Sans Thai"/>
                <a:cs typeface="IBM Plex Sans Thai"/>
                <a:sym typeface="IBM Plex Sans Thai"/>
              </a:rPr>
              <a:t>Answer: The security and fire subsystems use independent variables, independent decision logic, and separate state machines. They share the Arduino hardware but not the decision-making process.</a:t>
            </a:r>
          </a:p>
        </p:txBody>
      </p:sp>
      <p:sp>
        <p:nvSpPr>
          <p:cNvPr id="27" name="TextBox 27"/>
          <p:cNvSpPr txBox="1"/>
          <p:nvPr/>
        </p:nvSpPr>
        <p:spPr>
          <a:xfrm>
            <a:off x="16684489" y="448758"/>
            <a:ext cx="1149622" cy="1077218"/>
          </a:xfrm>
          <a:prstGeom prst="rect">
            <a:avLst/>
          </a:prstGeom>
        </p:spPr>
        <p:txBody>
          <a:bodyPr lIns="0" tIns="0" rIns="0" bIns="0" rtlCol="0" anchor="t">
            <a:spAutoFit/>
          </a:bodyPr>
          <a:lstStyle/>
          <a:p>
            <a:pPr algn="ctr">
              <a:lnSpc>
                <a:spcPts val="8392"/>
              </a:lnSpc>
            </a:pPr>
            <a:r>
              <a:rPr lang="en-US" sz="5994" b="1" spc="-119" dirty="0">
                <a:solidFill>
                  <a:srgbClr val="545454"/>
                </a:solidFill>
                <a:latin typeface="IBM Plex Sans Thai Bold"/>
                <a:ea typeface="IBM Plex Sans Thai Bold"/>
                <a:cs typeface="IBM Plex Sans Thai Bold"/>
                <a:sym typeface="IBM Plex Sans Thai Bold"/>
              </a:rPr>
              <a:t>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6E7E9"/>
        </a:solidFill>
        <a:effectLst/>
      </p:bgPr>
    </p:bg>
    <p:spTree>
      <p:nvGrpSpPr>
        <p:cNvPr id="1" name=""/>
        <p:cNvGrpSpPr/>
        <p:nvPr/>
      </p:nvGrpSpPr>
      <p:grpSpPr>
        <a:xfrm>
          <a:off x="0" y="0"/>
          <a:ext cx="0" cy="0"/>
          <a:chOff x="0" y="0"/>
          <a:chExt cx="0" cy="0"/>
        </a:xfrm>
      </p:grpSpPr>
      <p:grpSp>
        <p:nvGrpSpPr>
          <p:cNvPr id="2" name="Group 2"/>
          <p:cNvGrpSpPr/>
          <p:nvPr/>
        </p:nvGrpSpPr>
        <p:grpSpPr>
          <a:xfrm>
            <a:off x="11029950" y="9528897"/>
            <a:ext cx="14100464" cy="2314575"/>
            <a:chOff x="0" y="0"/>
            <a:chExt cx="3713702" cy="609600"/>
          </a:xfrm>
        </p:grpSpPr>
        <p:sp>
          <p:nvSpPr>
            <p:cNvPr id="3" name="Freeform 3"/>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4" name="TextBox 4"/>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438168" y="7214322"/>
            <a:ext cx="14100464" cy="2314575"/>
            <a:chOff x="0" y="0"/>
            <a:chExt cx="3713702" cy="609600"/>
          </a:xfrm>
        </p:grpSpPr>
        <p:sp>
          <p:nvSpPr>
            <p:cNvPr id="6" name="Freeform 6"/>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7" name="TextBox 7"/>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1019559" y="814387"/>
            <a:ext cx="14100464" cy="2314575"/>
            <a:chOff x="0" y="0"/>
            <a:chExt cx="3713702" cy="609600"/>
          </a:xfrm>
        </p:grpSpPr>
        <p:sp>
          <p:nvSpPr>
            <p:cNvPr id="9" name="Freeform 9"/>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10" name="TextBox 10"/>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7611341" y="-1500188"/>
            <a:ext cx="14100464" cy="2314575"/>
            <a:chOff x="0" y="0"/>
            <a:chExt cx="3713702" cy="609600"/>
          </a:xfrm>
        </p:grpSpPr>
        <p:sp>
          <p:nvSpPr>
            <p:cNvPr id="12" name="Freeform 12"/>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13" name="TextBox 13"/>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4112586" y="7985847"/>
            <a:ext cx="1543050" cy="771525"/>
            <a:chOff x="0" y="0"/>
            <a:chExt cx="812800" cy="406400"/>
          </a:xfrm>
        </p:grpSpPr>
        <p:sp>
          <p:nvSpPr>
            <p:cNvPr id="15" name="Freeform 15"/>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6" name="TextBox 16"/>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830532" y="1585912"/>
            <a:ext cx="1543050" cy="771525"/>
            <a:chOff x="0" y="0"/>
            <a:chExt cx="812800" cy="406400"/>
          </a:xfrm>
        </p:grpSpPr>
        <p:sp>
          <p:nvSpPr>
            <p:cNvPr id="18" name="Freeform 18"/>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9" name="TextBox 19"/>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sp>
        <p:nvSpPr>
          <p:cNvPr id="20" name="Freeform 20"/>
          <p:cNvSpPr/>
          <p:nvPr/>
        </p:nvSpPr>
        <p:spPr>
          <a:xfrm rot="-5400000">
            <a:off x="1550696" y="8418082"/>
            <a:ext cx="636444" cy="1680435"/>
          </a:xfrm>
          <a:custGeom>
            <a:avLst/>
            <a:gdLst/>
            <a:ahLst/>
            <a:cxnLst/>
            <a:rect l="l" t="t" r="r" b="b"/>
            <a:pathLst>
              <a:path w="636444" h="1680435">
                <a:moveTo>
                  <a:pt x="0" y="0"/>
                </a:moveTo>
                <a:lnTo>
                  <a:pt x="636444" y="0"/>
                </a:lnTo>
                <a:lnTo>
                  <a:pt x="636444" y="1680436"/>
                </a:lnTo>
                <a:lnTo>
                  <a:pt x="0" y="16804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Freeform 21"/>
          <p:cNvSpPr/>
          <p:nvPr/>
        </p:nvSpPr>
        <p:spPr>
          <a:xfrm>
            <a:off x="511066" y="2577221"/>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Freeform 22"/>
          <p:cNvSpPr/>
          <p:nvPr/>
        </p:nvSpPr>
        <p:spPr>
          <a:xfrm>
            <a:off x="16741666" y="6662580"/>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3" name="Freeform 23"/>
          <p:cNvSpPr/>
          <p:nvPr/>
        </p:nvSpPr>
        <p:spPr>
          <a:xfrm>
            <a:off x="11720984" y="6730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4" name="Freeform 24"/>
          <p:cNvSpPr/>
          <p:nvPr/>
        </p:nvSpPr>
        <p:spPr>
          <a:xfrm>
            <a:off x="6532596" y="89026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5" name="TextBox 25"/>
          <p:cNvSpPr txBox="1"/>
          <p:nvPr/>
        </p:nvSpPr>
        <p:spPr>
          <a:xfrm>
            <a:off x="2711361" y="-252006"/>
            <a:ext cx="12944276" cy="6732612"/>
          </a:xfrm>
          <a:prstGeom prst="rect">
            <a:avLst/>
          </a:prstGeom>
        </p:spPr>
        <p:txBody>
          <a:bodyPr lIns="0" tIns="0" rIns="0" bIns="0" rtlCol="0" anchor="t">
            <a:spAutoFit/>
          </a:bodyPr>
          <a:lstStyle/>
          <a:p>
            <a:pPr algn="l">
              <a:lnSpc>
                <a:spcPts val="10505"/>
              </a:lnSpc>
            </a:pPr>
            <a:r>
              <a:rPr lang="en-US" sz="7503" b="1" spc="-150" dirty="0">
                <a:solidFill>
                  <a:srgbClr val="282828"/>
                </a:solidFill>
                <a:latin typeface="IBM Plex Sans Thai Bold"/>
                <a:ea typeface="IBM Plex Sans Thai Bold"/>
                <a:cs typeface="IBM Plex Sans Thai Bold"/>
                <a:sym typeface="IBM Plex Sans Thai Bold"/>
              </a:rPr>
              <a:t>Q10. Which engineering concepts from the Sensors course are implemented in your project?</a:t>
            </a:r>
          </a:p>
          <a:p>
            <a:pPr algn="l">
              <a:lnSpc>
                <a:spcPts val="10505"/>
              </a:lnSpc>
            </a:pPr>
            <a:r>
              <a:rPr lang="en-US" sz="7503" b="1" spc="-150" dirty="0">
                <a:solidFill>
                  <a:srgbClr val="282828"/>
                </a:solidFill>
                <a:latin typeface="IBM Plex Sans Thai Bold"/>
                <a:ea typeface="IBM Plex Sans Thai Bold"/>
                <a:cs typeface="IBM Plex Sans Thai Bold"/>
                <a:sym typeface="IBM Plex Sans Thai Bold"/>
              </a:rPr>
              <a:t> </a:t>
            </a:r>
          </a:p>
        </p:txBody>
      </p:sp>
      <p:sp>
        <p:nvSpPr>
          <p:cNvPr id="26" name="TextBox 26"/>
          <p:cNvSpPr txBox="1"/>
          <p:nvPr/>
        </p:nvSpPr>
        <p:spPr>
          <a:xfrm>
            <a:off x="2602057" y="4752466"/>
            <a:ext cx="12774725" cy="5641327"/>
          </a:xfrm>
          <a:prstGeom prst="rect">
            <a:avLst/>
          </a:prstGeom>
        </p:spPr>
        <p:txBody>
          <a:bodyPr lIns="0" tIns="0" rIns="0" bIns="0" rtlCol="0" anchor="t">
            <a:spAutoFit/>
          </a:bodyPr>
          <a:lstStyle/>
          <a:p>
            <a:pPr algn="l">
              <a:lnSpc>
                <a:spcPts val="4060"/>
              </a:lnSpc>
            </a:pPr>
            <a:endParaRPr/>
          </a:p>
          <a:p>
            <a:pPr algn="l">
              <a:lnSpc>
                <a:spcPts val="4060"/>
              </a:lnSpc>
            </a:pPr>
            <a:r>
              <a:rPr lang="en-US" sz="2900" b="1" spc="-58">
                <a:solidFill>
                  <a:srgbClr val="282828"/>
                </a:solidFill>
                <a:latin typeface="IBM Plex Sans Thai Bold"/>
                <a:ea typeface="IBM Plex Sans Thai Bold"/>
                <a:cs typeface="IBM Plex Sans Thai Bold"/>
                <a:sym typeface="IBM Plex Sans Thai Bold"/>
              </a:rPr>
              <a:t>Answer:</a:t>
            </a:r>
          </a:p>
          <a:p>
            <a:pPr algn="l">
              <a:lnSpc>
                <a:spcPts val="4060"/>
              </a:lnSpc>
            </a:pPr>
            <a:r>
              <a:rPr lang="en-US" sz="2900" b="1" spc="-58">
                <a:solidFill>
                  <a:srgbClr val="282828"/>
                </a:solidFill>
                <a:latin typeface="IBM Plex Sans Thai Bold"/>
                <a:ea typeface="IBM Plex Sans Thai Bold"/>
                <a:cs typeface="IBM Plex Sans Thai Bold"/>
                <a:sym typeface="IBM Plex Sans Thai Bold"/>
              </a:rPr>
              <a:t>The project also implements threshold-based control, where predefined limits trigger automatic actions such as alarms, pump operation, and fan control. Sensor fusion combines the infrared sensor and load cell to improve entry reliability and reduce false detections. A finite-state machine organizes the fire-response sequence, while EEPROM stores calibration constants so they are retained after power loss. Finally, timestamped CSV data logging supports performance analysis, and automatic actuation controls the servo motor, pump, humidifier, fan, buzzer, and warning LED based on sensor readings.</a:t>
            </a:r>
          </a:p>
        </p:txBody>
      </p:sp>
      <p:sp>
        <p:nvSpPr>
          <p:cNvPr id="27" name="TextBox 27"/>
          <p:cNvSpPr txBox="1"/>
          <p:nvPr/>
        </p:nvSpPr>
        <p:spPr>
          <a:xfrm>
            <a:off x="16684489" y="448758"/>
            <a:ext cx="1149622" cy="1077218"/>
          </a:xfrm>
          <a:prstGeom prst="rect">
            <a:avLst/>
          </a:prstGeom>
        </p:spPr>
        <p:txBody>
          <a:bodyPr lIns="0" tIns="0" rIns="0" bIns="0" rtlCol="0" anchor="t">
            <a:spAutoFit/>
          </a:bodyPr>
          <a:lstStyle/>
          <a:p>
            <a:pPr algn="ctr">
              <a:lnSpc>
                <a:spcPts val="8392"/>
              </a:lnSpc>
            </a:pPr>
            <a:r>
              <a:rPr lang="en-US" sz="5994" b="1" spc="-119" dirty="0">
                <a:solidFill>
                  <a:srgbClr val="545454"/>
                </a:solidFill>
                <a:latin typeface="IBM Plex Sans Thai Bold"/>
                <a:ea typeface="IBM Plex Sans Thai Bold"/>
                <a:cs typeface="IBM Plex Sans Thai Bold"/>
                <a:sym typeface="IBM Plex Sans Thai Bold"/>
              </a:rPr>
              <a:t>10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6E7E9"/>
        </a:solidFill>
        <a:effectLst/>
      </p:bgPr>
    </p:bg>
    <p:spTree>
      <p:nvGrpSpPr>
        <p:cNvPr id="1" name=""/>
        <p:cNvGrpSpPr/>
        <p:nvPr/>
      </p:nvGrpSpPr>
      <p:grpSpPr>
        <a:xfrm>
          <a:off x="0" y="0"/>
          <a:ext cx="0" cy="0"/>
          <a:chOff x="0" y="0"/>
          <a:chExt cx="0" cy="0"/>
        </a:xfrm>
      </p:grpSpPr>
      <p:grpSp>
        <p:nvGrpSpPr>
          <p:cNvPr id="2" name="Group 2"/>
          <p:cNvGrpSpPr/>
          <p:nvPr/>
        </p:nvGrpSpPr>
        <p:grpSpPr>
          <a:xfrm>
            <a:off x="11029950" y="9528897"/>
            <a:ext cx="14100464" cy="2314575"/>
            <a:chOff x="0" y="0"/>
            <a:chExt cx="3713702" cy="609600"/>
          </a:xfrm>
        </p:grpSpPr>
        <p:sp>
          <p:nvSpPr>
            <p:cNvPr id="3" name="Freeform 3"/>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4" name="TextBox 4"/>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4438168" y="7214322"/>
            <a:ext cx="14100464" cy="2314575"/>
            <a:chOff x="0" y="0"/>
            <a:chExt cx="3713702" cy="609600"/>
          </a:xfrm>
        </p:grpSpPr>
        <p:sp>
          <p:nvSpPr>
            <p:cNvPr id="6" name="Freeform 6"/>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7" name="TextBox 7"/>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1019559" y="814387"/>
            <a:ext cx="14100464" cy="2314575"/>
            <a:chOff x="0" y="0"/>
            <a:chExt cx="3713702" cy="609600"/>
          </a:xfrm>
        </p:grpSpPr>
        <p:sp>
          <p:nvSpPr>
            <p:cNvPr id="9" name="Freeform 9"/>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599AE1"/>
            </a:solidFill>
          </p:spPr>
        </p:sp>
        <p:sp>
          <p:nvSpPr>
            <p:cNvPr id="10" name="TextBox 10"/>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7611341" y="-1500188"/>
            <a:ext cx="14100464" cy="2314575"/>
            <a:chOff x="0" y="0"/>
            <a:chExt cx="3713702" cy="609600"/>
          </a:xfrm>
        </p:grpSpPr>
        <p:sp>
          <p:nvSpPr>
            <p:cNvPr id="12" name="Freeform 12"/>
            <p:cNvSpPr/>
            <p:nvPr/>
          </p:nvSpPr>
          <p:spPr>
            <a:xfrm>
              <a:off x="0" y="0"/>
              <a:ext cx="3713702" cy="609600"/>
            </a:xfrm>
            <a:custGeom>
              <a:avLst/>
              <a:gdLst/>
              <a:ahLst/>
              <a:cxnLst/>
              <a:rect l="l" t="t" r="r" b="b"/>
              <a:pathLst>
                <a:path w="3713702" h="609600">
                  <a:moveTo>
                    <a:pt x="203200" y="0"/>
                  </a:moveTo>
                  <a:lnTo>
                    <a:pt x="3713702" y="0"/>
                  </a:lnTo>
                  <a:lnTo>
                    <a:pt x="3510502" y="609600"/>
                  </a:lnTo>
                  <a:lnTo>
                    <a:pt x="0" y="609600"/>
                  </a:lnTo>
                  <a:lnTo>
                    <a:pt x="203200" y="0"/>
                  </a:lnTo>
                  <a:close/>
                </a:path>
              </a:pathLst>
            </a:custGeom>
            <a:solidFill>
              <a:srgbClr val="425CCA"/>
            </a:solidFill>
          </p:spPr>
        </p:sp>
        <p:sp>
          <p:nvSpPr>
            <p:cNvPr id="13" name="TextBox 13"/>
            <p:cNvSpPr txBox="1"/>
            <p:nvPr/>
          </p:nvSpPr>
          <p:spPr>
            <a:xfrm>
              <a:off x="101600" y="-38100"/>
              <a:ext cx="3510502"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14112586" y="7985847"/>
            <a:ext cx="1543050" cy="771525"/>
            <a:chOff x="0" y="0"/>
            <a:chExt cx="812800" cy="406400"/>
          </a:xfrm>
        </p:grpSpPr>
        <p:sp>
          <p:nvSpPr>
            <p:cNvPr id="15" name="Freeform 15"/>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6" name="TextBox 16"/>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830532" y="1585912"/>
            <a:ext cx="1543050" cy="771525"/>
            <a:chOff x="0" y="0"/>
            <a:chExt cx="812800" cy="406400"/>
          </a:xfrm>
        </p:grpSpPr>
        <p:sp>
          <p:nvSpPr>
            <p:cNvPr id="18" name="Freeform 18"/>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61B0EA"/>
            </a:solidFill>
          </p:spPr>
        </p:sp>
        <p:sp>
          <p:nvSpPr>
            <p:cNvPr id="19" name="TextBox 19"/>
            <p:cNvSpPr txBox="1"/>
            <p:nvPr/>
          </p:nvSpPr>
          <p:spPr>
            <a:xfrm>
              <a:off x="0" y="-38100"/>
              <a:ext cx="812800" cy="444500"/>
            </a:xfrm>
            <a:prstGeom prst="rect">
              <a:avLst/>
            </a:prstGeom>
          </p:spPr>
          <p:txBody>
            <a:bodyPr lIns="50800" tIns="50800" rIns="50800" bIns="50800" rtlCol="0" anchor="ctr"/>
            <a:lstStyle/>
            <a:p>
              <a:pPr algn="ctr">
                <a:lnSpc>
                  <a:spcPts val="2659"/>
                </a:lnSpc>
              </a:pPr>
              <a:endParaRPr/>
            </a:p>
          </p:txBody>
        </p:sp>
      </p:grpSp>
      <p:sp>
        <p:nvSpPr>
          <p:cNvPr id="20" name="Freeform 20"/>
          <p:cNvSpPr/>
          <p:nvPr/>
        </p:nvSpPr>
        <p:spPr>
          <a:xfrm rot="-5400000">
            <a:off x="1550696" y="8418082"/>
            <a:ext cx="636444" cy="1680435"/>
          </a:xfrm>
          <a:custGeom>
            <a:avLst/>
            <a:gdLst/>
            <a:ahLst/>
            <a:cxnLst/>
            <a:rect l="l" t="t" r="r" b="b"/>
            <a:pathLst>
              <a:path w="636444" h="1680435">
                <a:moveTo>
                  <a:pt x="0" y="0"/>
                </a:moveTo>
                <a:lnTo>
                  <a:pt x="636444" y="0"/>
                </a:lnTo>
                <a:lnTo>
                  <a:pt x="636444" y="1680436"/>
                </a:lnTo>
                <a:lnTo>
                  <a:pt x="0" y="16804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Freeform 21"/>
          <p:cNvSpPr/>
          <p:nvPr/>
        </p:nvSpPr>
        <p:spPr>
          <a:xfrm>
            <a:off x="511066" y="2577221"/>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Freeform 22"/>
          <p:cNvSpPr/>
          <p:nvPr/>
        </p:nvSpPr>
        <p:spPr>
          <a:xfrm>
            <a:off x="16741666" y="6662580"/>
            <a:ext cx="1035268" cy="1103483"/>
          </a:xfrm>
          <a:custGeom>
            <a:avLst/>
            <a:gdLst/>
            <a:ahLst/>
            <a:cxnLst/>
            <a:rect l="l" t="t" r="r" b="b"/>
            <a:pathLst>
              <a:path w="1035268" h="1103483">
                <a:moveTo>
                  <a:pt x="0" y="0"/>
                </a:moveTo>
                <a:lnTo>
                  <a:pt x="1035268" y="0"/>
                </a:lnTo>
                <a:lnTo>
                  <a:pt x="1035268" y="1103483"/>
                </a:lnTo>
                <a:lnTo>
                  <a:pt x="0" y="110348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3" name="Freeform 23"/>
          <p:cNvSpPr/>
          <p:nvPr/>
        </p:nvSpPr>
        <p:spPr>
          <a:xfrm>
            <a:off x="11720984" y="6730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4" name="Freeform 24"/>
          <p:cNvSpPr/>
          <p:nvPr/>
        </p:nvSpPr>
        <p:spPr>
          <a:xfrm>
            <a:off x="6532596" y="8902628"/>
            <a:ext cx="673894" cy="673894"/>
          </a:xfrm>
          <a:custGeom>
            <a:avLst/>
            <a:gdLst/>
            <a:ahLst/>
            <a:cxnLst/>
            <a:rect l="l" t="t" r="r" b="b"/>
            <a:pathLst>
              <a:path w="673894" h="673894">
                <a:moveTo>
                  <a:pt x="0" y="0"/>
                </a:moveTo>
                <a:lnTo>
                  <a:pt x="673894" y="0"/>
                </a:lnTo>
                <a:lnTo>
                  <a:pt x="673894" y="673894"/>
                </a:lnTo>
                <a:lnTo>
                  <a:pt x="0" y="6738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5" name="TextBox 25"/>
          <p:cNvSpPr txBox="1"/>
          <p:nvPr/>
        </p:nvSpPr>
        <p:spPr>
          <a:xfrm>
            <a:off x="1868918" y="363033"/>
            <a:ext cx="17505218" cy="9169177"/>
          </a:xfrm>
          <a:prstGeom prst="rect">
            <a:avLst/>
          </a:prstGeom>
        </p:spPr>
        <p:txBody>
          <a:bodyPr lIns="0" tIns="0" rIns="0" bIns="0" rtlCol="0" anchor="t">
            <a:spAutoFit/>
          </a:bodyPr>
          <a:lstStyle/>
          <a:p>
            <a:pPr algn="l">
              <a:lnSpc>
                <a:spcPts val="14258"/>
              </a:lnSpc>
            </a:pPr>
            <a:r>
              <a:rPr lang="en-US" sz="10184" b="1" spc="-203" dirty="0">
                <a:solidFill>
                  <a:srgbClr val="282828"/>
                </a:solidFill>
                <a:latin typeface="IBM Plex Sans Thai Bold"/>
                <a:ea typeface="IBM Plex Sans Thai Bold"/>
                <a:cs typeface="IBM Plex Sans Thai Bold"/>
                <a:sym typeface="IBM Plex Sans Thai Bold"/>
              </a:rPr>
              <a:t>Q11. Why is timestamped data logging important in engineering systems?</a:t>
            </a:r>
          </a:p>
          <a:p>
            <a:pPr algn="l">
              <a:lnSpc>
                <a:spcPts val="14258"/>
              </a:lnSpc>
            </a:pPr>
            <a:endParaRPr lang="en-US" sz="10184" b="1" spc="-203" dirty="0">
              <a:solidFill>
                <a:srgbClr val="282828"/>
              </a:solidFill>
              <a:latin typeface="IBM Plex Sans Thai Bold"/>
              <a:ea typeface="IBM Plex Sans Thai Bold"/>
              <a:cs typeface="IBM Plex Sans Thai Bold"/>
              <a:sym typeface="IBM Plex Sans Thai Bold"/>
            </a:endParaRPr>
          </a:p>
          <a:p>
            <a:pPr algn="l">
              <a:lnSpc>
                <a:spcPts val="14258"/>
              </a:lnSpc>
            </a:pPr>
            <a:endParaRPr lang="en-US" sz="10184" b="1" spc="-203" dirty="0">
              <a:solidFill>
                <a:srgbClr val="282828"/>
              </a:solidFill>
              <a:latin typeface="IBM Plex Sans Thai Bold"/>
              <a:ea typeface="IBM Plex Sans Thai Bold"/>
              <a:cs typeface="IBM Plex Sans Thai Bold"/>
              <a:sym typeface="IBM Plex Sans Thai Bold"/>
            </a:endParaRPr>
          </a:p>
        </p:txBody>
      </p:sp>
      <p:sp>
        <p:nvSpPr>
          <p:cNvPr id="26" name="TextBox 26"/>
          <p:cNvSpPr txBox="1"/>
          <p:nvPr/>
        </p:nvSpPr>
        <p:spPr>
          <a:xfrm>
            <a:off x="400347" y="6574831"/>
            <a:ext cx="14483764" cy="2898951"/>
          </a:xfrm>
          <a:prstGeom prst="rect">
            <a:avLst/>
          </a:prstGeom>
        </p:spPr>
        <p:txBody>
          <a:bodyPr lIns="0" tIns="0" rIns="0" bIns="0" rtlCol="0" anchor="t">
            <a:spAutoFit/>
          </a:bodyPr>
          <a:lstStyle/>
          <a:p>
            <a:pPr algn="l">
              <a:lnSpc>
                <a:spcPts val="4603"/>
              </a:lnSpc>
            </a:pPr>
            <a:endParaRPr/>
          </a:p>
          <a:p>
            <a:pPr algn="l">
              <a:lnSpc>
                <a:spcPts val="4603"/>
              </a:lnSpc>
            </a:pPr>
            <a:r>
              <a:rPr lang="en-US" sz="3288">
                <a:solidFill>
                  <a:srgbClr val="282828"/>
                </a:solidFill>
                <a:latin typeface="IBM Plex Sans Thai"/>
                <a:ea typeface="IBM Plex Sans Thai"/>
                <a:cs typeface="IBM Plex Sans Thai"/>
                <a:sym typeface="IBM Plex Sans Thai"/>
              </a:rPr>
              <a:t>Answer: Timestamped logging provides traceability, allows post-processing and fault analysis, verifies system performance, and makes it possible to import the data directly into Excel or MATLAB for further analysis</a:t>
            </a:r>
          </a:p>
          <a:p>
            <a:pPr algn="l">
              <a:lnSpc>
                <a:spcPts val="4603"/>
              </a:lnSpc>
            </a:pPr>
            <a:endParaRPr lang="en-US" sz="3288">
              <a:solidFill>
                <a:srgbClr val="282828"/>
              </a:solidFill>
              <a:latin typeface="IBM Plex Sans Thai"/>
              <a:ea typeface="IBM Plex Sans Thai"/>
              <a:cs typeface="IBM Plex Sans Thai"/>
              <a:sym typeface="IBM Plex Sans Thai"/>
            </a:endParaRPr>
          </a:p>
        </p:txBody>
      </p:sp>
      <p:sp>
        <p:nvSpPr>
          <p:cNvPr id="27" name="TextBox 27"/>
          <p:cNvSpPr txBox="1"/>
          <p:nvPr/>
        </p:nvSpPr>
        <p:spPr>
          <a:xfrm>
            <a:off x="16930560" y="-415231"/>
            <a:ext cx="1149622" cy="1077218"/>
          </a:xfrm>
          <a:prstGeom prst="rect">
            <a:avLst/>
          </a:prstGeom>
        </p:spPr>
        <p:txBody>
          <a:bodyPr lIns="0" tIns="0" rIns="0" bIns="0" rtlCol="0" anchor="t">
            <a:spAutoFit/>
          </a:bodyPr>
          <a:lstStyle/>
          <a:p>
            <a:pPr algn="ctr">
              <a:lnSpc>
                <a:spcPts val="8392"/>
              </a:lnSpc>
            </a:pPr>
            <a:r>
              <a:rPr lang="en-US" sz="5994" b="1" spc="-119" dirty="0">
                <a:solidFill>
                  <a:srgbClr val="545454"/>
                </a:solidFill>
                <a:latin typeface="IBM Plex Sans Thai Bold"/>
                <a:ea typeface="IBM Plex Sans Thai Bold"/>
                <a:cs typeface="IBM Plex Sans Thai Bold"/>
                <a:sym typeface="IBM Plex Sans Thai Bold"/>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677</Words>
  <Application>Microsoft Office PowerPoint</Application>
  <PresentationFormat>Custom</PresentationFormat>
  <Paragraphs>53</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IBM Plex Sans Thai</vt:lpstr>
      <vt:lpstr>Arial</vt:lpstr>
      <vt:lpstr>Calibri</vt:lpstr>
      <vt:lpstr>IBM Plex Sans Thai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Grey Simple Geometric Professional Project Presentation</dc:title>
  <dc:creator>user</dc:creator>
  <cp:lastModifiedBy>Ali Al Hadi Akaamish</cp:lastModifiedBy>
  <cp:revision>2</cp:revision>
  <dcterms:created xsi:type="dcterms:W3CDTF">2006-08-16T00:00:00Z</dcterms:created>
  <dcterms:modified xsi:type="dcterms:W3CDTF">2026-07-14T11:28:13Z</dcterms:modified>
  <dc:identifier>DAHPWlZWS2k</dc:identifier>
</cp:coreProperties>
</file>